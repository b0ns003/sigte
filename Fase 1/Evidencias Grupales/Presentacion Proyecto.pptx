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oppins" panose="020B0502040204020203" pitchFamily="2" charset="0"/>
      <p:regular r:id="rId9"/>
    </p:embeddedFont>
    <p:embeddedFont>
      <p:font typeface="Poppi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9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972" y="2026368"/>
            <a:ext cx="3455535" cy="631113"/>
            <a:chOff x="0" y="0"/>
            <a:chExt cx="672408" cy="122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408" cy="122875"/>
            </a:xfrm>
            <a:custGeom>
              <a:avLst/>
              <a:gdLst/>
              <a:ahLst/>
              <a:cxnLst/>
              <a:rect l="l" t="t" r="r" b="b"/>
              <a:pathLst>
                <a:path w="672408" h="122875">
                  <a:moveTo>
                    <a:pt x="672408" y="61438"/>
                  </a:moveTo>
                  <a:lnTo>
                    <a:pt x="672408" y="61438"/>
                  </a:lnTo>
                  <a:cubicBezTo>
                    <a:pt x="672408" y="95369"/>
                    <a:pt x="644902" y="122875"/>
                    <a:pt x="610971" y="122875"/>
                  </a:cubicBezTo>
                  <a:lnTo>
                    <a:pt x="61438" y="122875"/>
                  </a:lnTo>
                  <a:cubicBezTo>
                    <a:pt x="27507" y="122875"/>
                    <a:pt x="0" y="95369"/>
                    <a:pt x="0" y="61438"/>
                  </a:cubicBezTo>
                  <a:lnTo>
                    <a:pt x="0" y="61438"/>
                  </a:lnTo>
                  <a:cubicBezTo>
                    <a:pt x="0" y="27507"/>
                    <a:pt x="27507" y="0"/>
                    <a:pt x="61438" y="0"/>
                  </a:cubicBezTo>
                  <a:lnTo>
                    <a:pt x="610971" y="0"/>
                  </a:lnTo>
                  <a:cubicBezTo>
                    <a:pt x="644902" y="0"/>
                    <a:pt x="672408" y="27507"/>
                    <a:pt x="672408" y="61438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93"/>
              <a:ext cx="672408" cy="118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</a:pPr>
              <a:r>
                <a:rPr lang="en-US" sz="161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I - </a:t>
              </a:r>
              <a:r>
                <a:rPr lang="en-US" sz="1619" b="1" dirty="0" err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Septiembre</a:t>
              </a:r>
              <a:r>
                <a:rPr lang="en-US" sz="161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79884" y="0"/>
            <a:ext cx="5608116" cy="10287000"/>
            <a:chOff x="0" y="0"/>
            <a:chExt cx="147703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7035" cy="2709333"/>
            </a:xfrm>
            <a:custGeom>
              <a:avLst/>
              <a:gdLst/>
              <a:ahLst/>
              <a:cxnLst/>
              <a:rect l="l" t="t" r="r" b="b"/>
              <a:pathLst>
                <a:path w="1477035" h="2709333">
                  <a:moveTo>
                    <a:pt x="0" y="0"/>
                  </a:moveTo>
                  <a:lnTo>
                    <a:pt x="1477035" y="0"/>
                  </a:lnTo>
                  <a:lnTo>
                    <a:pt x="14770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77035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1650" y="365993"/>
            <a:ext cx="8726396" cy="9442692"/>
            <a:chOff x="0" y="0"/>
            <a:chExt cx="18758447" cy="202982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58447" cy="20298212"/>
            </a:xfrm>
            <a:custGeom>
              <a:avLst/>
              <a:gdLst/>
              <a:ahLst/>
              <a:cxnLst/>
              <a:rect l="l" t="t" r="r" b="b"/>
              <a:pathLst>
                <a:path w="18758447" h="20298212">
                  <a:moveTo>
                    <a:pt x="0" y="0"/>
                  </a:moveTo>
                  <a:lnTo>
                    <a:pt x="18758447" y="0"/>
                  </a:lnTo>
                  <a:lnTo>
                    <a:pt x="18758447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21899" r="-2189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36599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87589" y="2912824"/>
            <a:ext cx="8086917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</a:pPr>
            <a:r>
              <a:rPr lang="en-US" sz="5000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gestión y trazabilidad del servicio de esterilización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589" y="5508886"/>
            <a:ext cx="7920316" cy="54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5"/>
              </a:lnSpc>
            </a:pPr>
            <a:r>
              <a:rPr lang="en-US" sz="3671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Hospital San José de Melipilla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5972" y="6912456"/>
            <a:ext cx="6911071" cy="274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Presentado por: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Yamilet Maureira</a:t>
            </a:r>
          </a:p>
          <a:p>
            <a:pPr marL="0" lvl="0" indent="0" algn="l">
              <a:lnSpc>
                <a:spcPts val="3106"/>
              </a:lnSpc>
            </a:pP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Alejandra Riquelme</a:t>
            </a:r>
          </a:p>
          <a:p>
            <a:pPr marL="0" lvl="0" indent="0" algn="l">
              <a:lnSpc>
                <a:spcPts val="3106"/>
              </a:lnSpc>
            </a:pP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Natalia Sánchez</a:t>
            </a:r>
          </a:p>
          <a:p>
            <a:pPr marL="0" lvl="0" indent="0" algn="l">
              <a:lnSpc>
                <a:spcPts val="3106"/>
              </a:lnSpc>
            </a:pPr>
            <a:endParaRPr lang="en-US" sz="221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Profesor:  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Juan Hernández</a:t>
            </a:r>
          </a:p>
          <a:p>
            <a:pPr marL="0" lvl="0" indent="0" algn="l">
              <a:lnSpc>
                <a:spcPts val="3106"/>
              </a:lnSpc>
            </a:pPr>
            <a:endParaRPr lang="en-US" sz="221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Asignatura: 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Capstone 001D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359" cy="4827742"/>
            </a:xfrm>
            <a:custGeom>
              <a:avLst/>
              <a:gdLst/>
              <a:ahLst/>
              <a:cxnLst/>
              <a:rect l="l" t="t" r="r" b="b"/>
              <a:pathLst>
                <a:path w="475359" h="4827742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8725" y="5545476"/>
            <a:ext cx="3619500" cy="3040944"/>
            <a:chOff x="0" y="0"/>
            <a:chExt cx="4826000" cy="4054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26000" cy="4054592"/>
            </a:xfrm>
            <a:custGeom>
              <a:avLst/>
              <a:gdLst/>
              <a:ahLst/>
              <a:cxnLst/>
              <a:rect l="l" t="t" r="r" b="b"/>
              <a:pathLst>
                <a:path w="4826000" h="4054592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2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38725" y="5545476"/>
            <a:ext cx="3619500" cy="3012722"/>
            <a:chOff x="0" y="0"/>
            <a:chExt cx="4826000" cy="40169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26000" cy="4016963"/>
            </a:xfrm>
            <a:custGeom>
              <a:avLst/>
              <a:gdLst/>
              <a:ahLst/>
              <a:cxnLst/>
              <a:rect l="l" t="t" r="r" b="b"/>
              <a:pathLst>
                <a:path w="4826000" h="4016963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D1F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48725" y="5545476"/>
            <a:ext cx="3619500" cy="3012722"/>
            <a:chOff x="0" y="0"/>
            <a:chExt cx="4826000" cy="4016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26000" cy="4016963"/>
            </a:xfrm>
            <a:custGeom>
              <a:avLst/>
              <a:gdLst/>
              <a:ahLst/>
              <a:cxnLst/>
              <a:rect l="l" t="t" r="r" b="b"/>
              <a:pathLst>
                <a:path w="4826000" h="4016963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F3A2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58725" y="5545476"/>
            <a:ext cx="3619500" cy="3040944"/>
            <a:chOff x="0" y="0"/>
            <a:chExt cx="4826000" cy="40545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26000" cy="4054592"/>
            </a:xfrm>
            <a:custGeom>
              <a:avLst/>
              <a:gdLst/>
              <a:ahLst/>
              <a:cxnLst/>
              <a:rect l="l" t="t" r="r" b="b"/>
              <a:pathLst>
                <a:path w="4826000" h="4054592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3A2A1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1125" y="5713073"/>
            <a:ext cx="514350" cy="518839"/>
            <a:chOff x="0" y="0"/>
            <a:chExt cx="616782" cy="6221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6782" cy="622164"/>
            </a:xfrm>
            <a:custGeom>
              <a:avLst/>
              <a:gdLst/>
              <a:ahLst/>
              <a:cxnLst/>
              <a:rect l="l" t="t" r="r" b="b"/>
              <a:pathLst>
                <a:path w="616782" h="622164">
                  <a:moveTo>
                    <a:pt x="308391" y="0"/>
                  </a:moveTo>
                  <a:cubicBezTo>
                    <a:pt x="138071" y="0"/>
                    <a:pt x="0" y="139276"/>
                    <a:pt x="0" y="311082"/>
                  </a:cubicBezTo>
                  <a:cubicBezTo>
                    <a:pt x="0" y="482888"/>
                    <a:pt x="138071" y="622164"/>
                    <a:pt x="308391" y="622164"/>
                  </a:cubicBezTo>
                  <a:cubicBezTo>
                    <a:pt x="478710" y="622164"/>
                    <a:pt x="616782" y="482888"/>
                    <a:pt x="616782" y="311082"/>
                  </a:cubicBezTo>
                  <a:cubicBezTo>
                    <a:pt x="616782" y="139276"/>
                    <a:pt x="478710" y="0"/>
                    <a:pt x="308391" y="0"/>
                  </a:cubicBezTo>
                  <a:close/>
                </a:path>
              </a:pathLst>
            </a:custGeom>
            <a:solidFill>
              <a:srgbClr val="3A5F8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16782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29225" y="5735976"/>
            <a:ext cx="476250" cy="518839"/>
            <a:chOff x="0" y="0"/>
            <a:chExt cx="571094" cy="6221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1094" cy="622164"/>
            </a:xfrm>
            <a:custGeom>
              <a:avLst/>
              <a:gdLst/>
              <a:ahLst/>
              <a:cxnLst/>
              <a:rect l="l" t="t" r="r" b="b"/>
              <a:pathLst>
                <a:path w="571094" h="622164">
                  <a:moveTo>
                    <a:pt x="285547" y="0"/>
                  </a:moveTo>
                  <a:cubicBezTo>
                    <a:pt x="127844" y="0"/>
                    <a:pt x="0" y="139276"/>
                    <a:pt x="0" y="311082"/>
                  </a:cubicBezTo>
                  <a:cubicBezTo>
                    <a:pt x="0" y="482888"/>
                    <a:pt x="127844" y="622164"/>
                    <a:pt x="285547" y="622164"/>
                  </a:cubicBezTo>
                  <a:cubicBezTo>
                    <a:pt x="443250" y="622164"/>
                    <a:pt x="571094" y="482888"/>
                    <a:pt x="571094" y="311082"/>
                  </a:cubicBezTo>
                  <a:cubicBezTo>
                    <a:pt x="571094" y="139276"/>
                    <a:pt x="443250" y="0"/>
                    <a:pt x="285547" y="0"/>
                  </a:cubicBezTo>
                  <a:close/>
                </a:path>
              </a:pathLst>
            </a:custGeom>
            <a:solidFill>
              <a:srgbClr val="6B4A8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71094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39225" y="5735976"/>
            <a:ext cx="532886" cy="518839"/>
            <a:chOff x="0" y="0"/>
            <a:chExt cx="639009" cy="6221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9009" cy="622164"/>
            </a:xfrm>
            <a:custGeom>
              <a:avLst/>
              <a:gdLst/>
              <a:ahLst/>
              <a:cxnLst/>
              <a:rect l="l" t="t" r="r" b="b"/>
              <a:pathLst>
                <a:path w="639009" h="622164">
                  <a:moveTo>
                    <a:pt x="319505" y="0"/>
                  </a:moveTo>
                  <a:cubicBezTo>
                    <a:pt x="143047" y="0"/>
                    <a:pt x="0" y="139276"/>
                    <a:pt x="0" y="311082"/>
                  </a:cubicBezTo>
                  <a:cubicBezTo>
                    <a:pt x="0" y="482888"/>
                    <a:pt x="143047" y="622164"/>
                    <a:pt x="319505" y="622164"/>
                  </a:cubicBezTo>
                  <a:cubicBezTo>
                    <a:pt x="495962" y="622164"/>
                    <a:pt x="639009" y="482888"/>
                    <a:pt x="639009" y="311082"/>
                  </a:cubicBezTo>
                  <a:cubicBezTo>
                    <a:pt x="639009" y="139276"/>
                    <a:pt x="495962" y="0"/>
                    <a:pt x="319505" y="0"/>
                  </a:cubicBezTo>
                  <a:close/>
                </a:path>
              </a:pathLst>
            </a:custGeom>
            <a:solidFill>
              <a:srgbClr val="3A7A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39009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49225" y="5735976"/>
            <a:ext cx="533400" cy="518839"/>
            <a:chOff x="0" y="0"/>
            <a:chExt cx="639626" cy="6221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9626" cy="622164"/>
            </a:xfrm>
            <a:custGeom>
              <a:avLst/>
              <a:gdLst/>
              <a:ahLst/>
              <a:cxnLst/>
              <a:rect l="l" t="t" r="r" b="b"/>
              <a:pathLst>
                <a:path w="639626" h="622164">
                  <a:moveTo>
                    <a:pt x="319813" y="0"/>
                  </a:moveTo>
                  <a:cubicBezTo>
                    <a:pt x="143185" y="0"/>
                    <a:pt x="0" y="139276"/>
                    <a:pt x="0" y="311082"/>
                  </a:cubicBezTo>
                  <a:cubicBezTo>
                    <a:pt x="0" y="482888"/>
                    <a:pt x="143185" y="622164"/>
                    <a:pt x="319813" y="622164"/>
                  </a:cubicBezTo>
                  <a:cubicBezTo>
                    <a:pt x="496440" y="622164"/>
                    <a:pt x="639626" y="482888"/>
                    <a:pt x="639626" y="311082"/>
                  </a:cubicBezTo>
                  <a:cubicBezTo>
                    <a:pt x="639626" y="139276"/>
                    <a:pt x="496440" y="0"/>
                    <a:pt x="319813" y="0"/>
                  </a:cubicBezTo>
                  <a:close/>
                </a:path>
              </a:pathLst>
            </a:custGeom>
            <a:solidFill>
              <a:srgbClr val="8A6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39626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28725" y="9540875"/>
            <a:ext cx="2924175" cy="457200"/>
            <a:chOff x="0" y="0"/>
            <a:chExt cx="3898900" cy="6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98900" cy="609600"/>
            </a:xfrm>
            <a:custGeom>
              <a:avLst/>
              <a:gdLst/>
              <a:ahLst/>
              <a:cxnLst/>
              <a:rect l="l" t="t" r="r" b="b"/>
              <a:pathLst>
                <a:path w="3898900" h="609600">
                  <a:moveTo>
                    <a:pt x="3517900" y="0"/>
                  </a:moveTo>
                  <a:cubicBezTo>
                    <a:pt x="3728320" y="0"/>
                    <a:pt x="3898900" y="136464"/>
                    <a:pt x="3898900" y="304800"/>
                  </a:cubicBezTo>
                  <a:cubicBezTo>
                    <a:pt x="3898900" y="473136"/>
                    <a:pt x="3728320" y="609600"/>
                    <a:pt x="35179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8989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Levantamiento de procesos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05300" y="9540875"/>
            <a:ext cx="2124075" cy="457200"/>
            <a:chOff x="0" y="0"/>
            <a:chExt cx="2832100" cy="609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32100" cy="609600"/>
            </a:xfrm>
            <a:custGeom>
              <a:avLst/>
              <a:gdLst/>
              <a:ahLst/>
              <a:cxnLst/>
              <a:rect l="l" t="t" r="r" b="b"/>
              <a:pathLst>
                <a:path w="2832100" h="609600">
                  <a:moveTo>
                    <a:pt x="2451100" y="0"/>
                  </a:moveTo>
                  <a:cubicBezTo>
                    <a:pt x="2661520" y="0"/>
                    <a:pt x="2832100" y="136464"/>
                    <a:pt x="2832100" y="304800"/>
                  </a:cubicBezTo>
                  <a:cubicBezTo>
                    <a:pt x="2832100" y="473136"/>
                    <a:pt x="2661520" y="609600"/>
                    <a:pt x="2451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8321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Modelado de datos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81775" y="9540875"/>
            <a:ext cx="2219325" cy="457200"/>
            <a:chOff x="0" y="0"/>
            <a:chExt cx="2959100" cy="609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59100" cy="609600"/>
            </a:xfrm>
            <a:custGeom>
              <a:avLst/>
              <a:gdLst/>
              <a:ahLst/>
              <a:cxnLst/>
              <a:rect l="l" t="t" r="r" b="b"/>
              <a:pathLst>
                <a:path w="2959100" h="609600">
                  <a:moveTo>
                    <a:pt x="2578100" y="0"/>
                  </a:moveTo>
                  <a:cubicBezTo>
                    <a:pt x="2788520" y="0"/>
                    <a:pt x="2959100" y="136464"/>
                    <a:pt x="2959100" y="304800"/>
                  </a:cubicBezTo>
                  <a:cubicBezTo>
                    <a:pt x="2959100" y="473136"/>
                    <a:pt x="2788520" y="609600"/>
                    <a:pt x="2578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9591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Desarrollo Full-Stack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53500" y="9540875"/>
            <a:ext cx="2238375" cy="457200"/>
            <a:chOff x="0" y="0"/>
            <a:chExt cx="2984500" cy="609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84500" cy="609600"/>
            </a:xfrm>
            <a:custGeom>
              <a:avLst/>
              <a:gdLst/>
              <a:ahLst/>
              <a:cxnLst/>
              <a:rect l="l" t="t" r="r" b="b"/>
              <a:pathLst>
                <a:path w="2984500" h="609600">
                  <a:moveTo>
                    <a:pt x="2603500" y="0"/>
                  </a:moveTo>
                  <a:cubicBezTo>
                    <a:pt x="2813920" y="0"/>
                    <a:pt x="2984500" y="136464"/>
                    <a:pt x="2984500" y="304800"/>
                  </a:cubicBezTo>
                  <a:cubicBezTo>
                    <a:pt x="2984500" y="473136"/>
                    <a:pt x="2813920" y="609600"/>
                    <a:pt x="26035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9845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Gestión Ágil (Scrum)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3330009" y="5208926"/>
            <a:ext cx="1765866" cy="1598108"/>
          </a:xfrm>
          <a:custGeom>
            <a:avLst/>
            <a:gdLst/>
            <a:ahLst/>
            <a:cxnLst/>
            <a:rect l="l" t="t" r="r" b="b"/>
            <a:pathLst>
              <a:path w="1765866" h="1598108">
                <a:moveTo>
                  <a:pt x="0" y="0"/>
                </a:moveTo>
                <a:lnTo>
                  <a:pt x="1765866" y="0"/>
                </a:lnTo>
                <a:lnTo>
                  <a:pt x="1765866" y="1598109"/>
                </a:lnTo>
                <a:lnTo>
                  <a:pt x="0" y="1598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Freeform 42"/>
          <p:cNvSpPr/>
          <p:nvPr/>
        </p:nvSpPr>
        <p:spPr>
          <a:xfrm flipH="1">
            <a:off x="7438525" y="7230908"/>
            <a:ext cx="1114925" cy="1327291"/>
          </a:xfrm>
          <a:custGeom>
            <a:avLst/>
            <a:gdLst/>
            <a:ahLst/>
            <a:cxnLst/>
            <a:rect l="l" t="t" r="r" b="b"/>
            <a:pathLst>
              <a:path w="1114925" h="1327291">
                <a:moveTo>
                  <a:pt x="1114925" y="0"/>
                </a:moveTo>
                <a:lnTo>
                  <a:pt x="0" y="0"/>
                </a:lnTo>
                <a:lnTo>
                  <a:pt x="0" y="1327291"/>
                </a:lnTo>
                <a:lnTo>
                  <a:pt x="1114925" y="1327291"/>
                </a:lnTo>
                <a:lnTo>
                  <a:pt x="11149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Freeform 43"/>
          <p:cNvSpPr/>
          <p:nvPr/>
        </p:nvSpPr>
        <p:spPr>
          <a:xfrm flipH="1">
            <a:off x="10782300" y="6402585"/>
            <a:ext cx="1656644" cy="1656644"/>
          </a:xfrm>
          <a:custGeom>
            <a:avLst/>
            <a:gdLst/>
            <a:ahLst/>
            <a:cxnLst/>
            <a:rect l="l" t="t" r="r" b="b"/>
            <a:pathLst>
              <a:path w="1656644" h="1656644">
                <a:moveTo>
                  <a:pt x="1656644" y="0"/>
                </a:moveTo>
                <a:lnTo>
                  <a:pt x="0" y="0"/>
                </a:lnTo>
                <a:lnTo>
                  <a:pt x="0" y="1656645"/>
                </a:lnTo>
                <a:lnTo>
                  <a:pt x="1656644" y="1656645"/>
                </a:lnTo>
                <a:lnTo>
                  <a:pt x="16566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4" name="Freeform 44"/>
          <p:cNvSpPr/>
          <p:nvPr/>
        </p:nvSpPr>
        <p:spPr>
          <a:xfrm>
            <a:off x="14805025" y="5735240"/>
            <a:ext cx="1242996" cy="1211922"/>
          </a:xfrm>
          <a:custGeom>
            <a:avLst/>
            <a:gdLst/>
            <a:ahLst/>
            <a:cxnLst/>
            <a:rect l="l" t="t" r="r" b="b"/>
            <a:pathLst>
              <a:path w="1242996" h="1211922">
                <a:moveTo>
                  <a:pt x="0" y="0"/>
                </a:moveTo>
                <a:lnTo>
                  <a:pt x="1242996" y="0"/>
                </a:lnTo>
                <a:lnTo>
                  <a:pt x="1242996" y="1211921"/>
                </a:lnTo>
                <a:lnTo>
                  <a:pt x="0" y="1211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5" name="Group 45"/>
          <p:cNvGrpSpPr/>
          <p:nvPr/>
        </p:nvGrpSpPr>
        <p:grpSpPr>
          <a:xfrm>
            <a:off x="1231783" y="2070522"/>
            <a:ext cx="13064183" cy="784042"/>
            <a:chOff x="0" y="0"/>
            <a:chExt cx="17418911" cy="104539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9525"/>
              <a:ext cx="12734022" cy="1035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12"/>
                </a:lnSpc>
              </a:pPr>
              <a:r>
                <a:rPr lang="en-US" sz="5196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¿Qué es el 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84889" y="9525"/>
              <a:ext cx="12734022" cy="1035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12"/>
                </a:lnSpc>
              </a:pPr>
              <a:r>
                <a:rPr lang="en-US" sz="5196">
                  <a:solidFill>
                    <a:srgbClr val="F98E3B"/>
                  </a:solidFill>
                  <a:latin typeface="Poppins"/>
                  <a:ea typeface="Poppins"/>
                  <a:cs typeface="Poppins"/>
                  <a:sym typeface="Poppins"/>
                </a:rPr>
                <a:t>proyecto?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31783" y="3095584"/>
            <a:ext cx="9550517" cy="103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6"/>
              </a:lnSpc>
            </a:pPr>
            <a:r>
              <a:rPr lang="en-US" sz="194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Desarrollo e implementación de un sistema web centralizado para automatizar la trazabilidad y la gestión de inventario del instrumental quirúrgico.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52033" y="367516"/>
            <a:ext cx="5037257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52033" y="1113514"/>
            <a:ext cx="130778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¿Qué problema resuelve el proyecto y con qué enfoque tecnológico?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28725" y="4751091"/>
            <a:ext cx="7620000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u="none" strike="noStrike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Enfoque </a:t>
            </a:r>
            <a:r>
              <a:rPr lang="en-US" sz="3999" u="none" strike="noStrike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Tecnológico (MVP)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28725" y="9112250"/>
            <a:ext cx="7620000" cy="30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8"/>
              </a:lnSpc>
            </a:pPr>
            <a:r>
              <a:rPr lang="en-US" sz="1998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Competencias</a:t>
            </a:r>
            <a:r>
              <a:rPr lang="en-US" sz="199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Clave del Perfil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28825" y="5755026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 Estados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19225" y="6604163"/>
            <a:ext cx="3238500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Seguimiento en tiempo real del ciclo completo del instrumental para dar una visibilidad total del proceso, en tiempo real.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38825" y="5725715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29225" y="6607240"/>
            <a:ext cx="3238500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 centralizado de stock y disponibilidad de instrumentos disponibles, pudiendo detectar faltantes y agilizar el control fisico.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67361" y="5777930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Custodia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953500" y="6604163"/>
            <a:ext cx="1828800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responsables en cada etapa del proceso para trazar quien realiza una acción y respaldar auditorias.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477875" y="5725715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 Alertas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68275" y="6588923"/>
            <a:ext cx="2019300" cy="167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automáticas y dashboards de gestión como notificaciones de faltantantes o estados críticos, permitiendo apoyar decisiones y anticipar problemas.</a:t>
            </a:r>
          </a:p>
        </p:txBody>
      </p:sp>
      <p:sp>
        <p:nvSpPr>
          <p:cNvPr id="61" name="Freeform 61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2" name="Group 62"/>
          <p:cNvGrpSpPr/>
          <p:nvPr/>
        </p:nvGrpSpPr>
        <p:grpSpPr>
          <a:xfrm>
            <a:off x="0" y="1804880"/>
            <a:ext cx="18288000" cy="47625"/>
            <a:chOff x="0" y="0"/>
            <a:chExt cx="24384000" cy="635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0115" y="2677343"/>
            <a:ext cx="9342174" cy="7609657"/>
            <a:chOff x="0" y="0"/>
            <a:chExt cx="2460490" cy="2004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0490" cy="2004189"/>
            </a:xfrm>
            <a:custGeom>
              <a:avLst/>
              <a:gdLst/>
              <a:ahLst/>
              <a:cxnLst/>
              <a:rect l="l" t="t" r="r" b="b"/>
              <a:pathLst>
                <a:path w="2460490" h="2004189">
                  <a:moveTo>
                    <a:pt x="0" y="0"/>
                  </a:moveTo>
                  <a:lnTo>
                    <a:pt x="2460490" y="0"/>
                  </a:lnTo>
                  <a:lnTo>
                    <a:pt x="2460490" y="2004189"/>
                  </a:lnTo>
                  <a:lnTo>
                    <a:pt x="0" y="2004189"/>
                  </a:lnTo>
                  <a:close/>
                </a:path>
              </a:pathLst>
            </a:custGeom>
            <a:solidFill>
              <a:srgbClr val="F0A64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60490" cy="206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5359" cy="4827742"/>
            </a:xfrm>
            <a:custGeom>
              <a:avLst/>
              <a:gdLst/>
              <a:ahLst/>
              <a:cxnLst/>
              <a:rect l="l" t="t" r="r" b="b"/>
              <a:pathLst>
                <a:path w="475359" h="4827742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873478" y="249258"/>
            <a:ext cx="5037257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Problemática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3478" y="995256"/>
            <a:ext cx="5895269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El contexto operativo que origina la necesidad del sistema</a:t>
            </a:r>
          </a:p>
          <a:p>
            <a:pPr algn="l">
              <a:lnSpc>
                <a:spcPts val="2400"/>
              </a:lnSpc>
            </a:pPr>
            <a:endParaRPr lang="en-US" sz="2000">
              <a:solidFill>
                <a:srgbClr val="E4E7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34702" y="2846274"/>
            <a:ext cx="8543096" cy="7271795"/>
            <a:chOff x="0" y="0"/>
            <a:chExt cx="23846876" cy="202982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46876" cy="20298212"/>
            </a:xfrm>
            <a:custGeom>
              <a:avLst/>
              <a:gdLst/>
              <a:ahLst/>
              <a:cxnLst/>
              <a:rect l="l" t="t" r="r" b="b"/>
              <a:pathLst>
                <a:path w="23846876" h="20298212">
                  <a:moveTo>
                    <a:pt x="0" y="0"/>
                  </a:moveTo>
                  <a:lnTo>
                    <a:pt x="23846876" y="0"/>
                  </a:lnTo>
                  <a:lnTo>
                    <a:pt x="23846876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3"/>
              <a:stretch>
                <a:fillRect l="-6745" r="-674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0111" y="2688569"/>
            <a:ext cx="76200" cy="2286000"/>
            <a:chOff x="0" y="0"/>
            <a:chExt cx="101600" cy="304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24911" y="282191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Clínico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4911" y="326006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servicio de esterilización del Hospital San José de Melipilla opera con procesos mayoritariamente manuales, sin un sistema digital que permita rastrear el instrumental quirúrgico.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20111" y="5260319"/>
            <a:ext cx="76200" cy="2286000"/>
            <a:chOff x="0" y="0"/>
            <a:chExt cx="101600" cy="304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24911" y="539366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0392B"/>
                </a:solidFill>
                <a:latin typeface="Poppins Bold"/>
                <a:ea typeface="Poppins Bold"/>
                <a:cs typeface="Poppins Bold"/>
                <a:sym typeface="Poppins Bold"/>
              </a:rPr>
              <a:t>El Dolor Actual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24911" y="583181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No existe trazabilidad automatizada del instrumental. El registro es manual, propenso a errores, y no permite visibilidad en tiempo real del estado de los equipos.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0111" y="7832069"/>
            <a:ext cx="76200" cy="2286000"/>
            <a:chOff x="0" y="0"/>
            <a:chExt cx="101600" cy="3048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24911" y="796541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Consecuencias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24911" y="840356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Riesgo de infecciones asociadas a la atención, pérdida o deterioro de instrumental, incumplimiento normativo y sobrecarga operativa del personal técnico.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0" y="1804880"/>
            <a:ext cx="18288000" cy="47625"/>
            <a:chOff x="0" y="0"/>
            <a:chExt cx="24384000" cy="63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905000"/>
            <a:chOff x="0" y="0"/>
            <a:chExt cx="24384000" cy="254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540000"/>
            </a:xfrm>
            <a:custGeom>
              <a:avLst/>
              <a:gdLst/>
              <a:ahLst/>
              <a:cxnLst/>
              <a:rect l="l" t="t" r="r" b="b"/>
              <a:pathLst>
                <a:path w="24384000" h="2540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905000"/>
            <a:ext cx="18288000" cy="47625"/>
            <a:chOff x="0" y="0"/>
            <a:chExt cx="24384000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3143250"/>
            <a:ext cx="5524500" cy="4889500"/>
            <a:chOff x="0" y="0"/>
            <a:chExt cx="7366000" cy="651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0" cy="6519333"/>
            </a:xfrm>
            <a:custGeom>
              <a:avLst/>
              <a:gdLst/>
              <a:ahLst/>
              <a:cxnLst/>
              <a:rect l="l" t="t" r="r" b="b"/>
              <a:pathLst>
                <a:path w="7366000" h="6519333">
                  <a:moveTo>
                    <a:pt x="736600" y="0"/>
                  </a:moveTo>
                  <a:lnTo>
                    <a:pt x="6629400" y="0"/>
                  </a:lnTo>
                  <a:cubicBezTo>
                    <a:pt x="7036213" y="0"/>
                    <a:pt x="7366000" y="217039"/>
                    <a:pt x="7366000" y="484771"/>
                  </a:cubicBezTo>
                  <a:lnTo>
                    <a:pt x="7366000" y="6034562"/>
                  </a:lnTo>
                  <a:cubicBezTo>
                    <a:pt x="7366000" y="6302294"/>
                    <a:pt x="7036213" y="6519333"/>
                    <a:pt x="6629400" y="6519333"/>
                  </a:cubicBezTo>
                  <a:lnTo>
                    <a:pt x="736600" y="6519333"/>
                  </a:lnTo>
                  <a:cubicBezTo>
                    <a:pt x="329787" y="6519333"/>
                    <a:pt x="0" y="6302294"/>
                    <a:pt x="0" y="6034562"/>
                  </a:cubicBezTo>
                  <a:lnTo>
                    <a:pt x="0" y="484771"/>
                  </a:lnTo>
                  <a:cubicBezTo>
                    <a:pt x="0" y="217039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0" cy="655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572250" y="2422525"/>
            <a:ext cx="0" cy="7048500"/>
          </a:xfrm>
          <a:prstGeom prst="line">
            <a:avLst/>
          </a:prstGeom>
          <a:ln w="19050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7048500" y="2762250"/>
            <a:ext cx="10668000" cy="1143000"/>
            <a:chOff x="0" y="0"/>
            <a:chExt cx="14224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48500" y="2762250"/>
            <a:ext cx="57150" cy="1143000"/>
            <a:chOff x="0" y="0"/>
            <a:chExt cx="762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239000" y="3143250"/>
            <a:ext cx="381000" cy="381000"/>
            <a:chOff x="0" y="0"/>
            <a:chExt cx="508000" cy="50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0" y="4019550"/>
            <a:ext cx="10668000" cy="1143000"/>
            <a:chOff x="0" y="0"/>
            <a:chExt cx="14224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0" y="4019550"/>
            <a:ext cx="57150" cy="1143000"/>
            <a:chOff x="0" y="0"/>
            <a:chExt cx="762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3498D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4400550"/>
            <a:ext cx="381000" cy="381000"/>
            <a:chOff x="0" y="0"/>
            <a:chExt cx="508000" cy="50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3498D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48500" y="5276850"/>
            <a:ext cx="10668000" cy="1143000"/>
            <a:chOff x="0" y="0"/>
            <a:chExt cx="14224000" cy="152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48500" y="5276850"/>
            <a:ext cx="57150" cy="1143000"/>
            <a:chOff x="0" y="0"/>
            <a:chExt cx="762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7AE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239000" y="5657850"/>
            <a:ext cx="381000" cy="381000"/>
            <a:chOff x="0" y="0"/>
            <a:chExt cx="508000" cy="508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27AE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048500" y="6534150"/>
            <a:ext cx="10668000" cy="1143000"/>
            <a:chOff x="0" y="0"/>
            <a:chExt cx="14224000" cy="152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048500" y="6534150"/>
            <a:ext cx="57150" cy="1143000"/>
            <a:chOff x="0" y="0"/>
            <a:chExt cx="76200" cy="1524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E44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39000" y="6915150"/>
            <a:ext cx="381000" cy="381000"/>
            <a:chOff x="0" y="0"/>
            <a:chExt cx="508000" cy="508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8E44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048500" y="7791450"/>
            <a:ext cx="10668000" cy="1143000"/>
            <a:chOff x="0" y="0"/>
            <a:chExt cx="14224000" cy="1524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48500" y="7791450"/>
            <a:ext cx="57150" cy="1143000"/>
            <a:chOff x="0" y="0"/>
            <a:chExt cx="76200" cy="1524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239000" y="8172450"/>
            <a:ext cx="381000" cy="381000"/>
            <a:chOff x="0" y="0"/>
            <a:chExt cx="508000" cy="508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12644438" y="36599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5" y="0"/>
                </a:lnTo>
                <a:lnTo>
                  <a:pt x="5301655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9" name="Freeform 59"/>
          <p:cNvSpPr/>
          <p:nvPr/>
        </p:nvSpPr>
        <p:spPr>
          <a:xfrm>
            <a:off x="2193925" y="2668587"/>
            <a:ext cx="4225925" cy="4225925"/>
          </a:xfrm>
          <a:custGeom>
            <a:avLst/>
            <a:gdLst/>
            <a:ahLst/>
            <a:cxnLst/>
            <a:rect l="l" t="t" r="r" b="b"/>
            <a:pathLst>
              <a:path w="4225925" h="4225925">
                <a:moveTo>
                  <a:pt x="0" y="0"/>
                </a:moveTo>
                <a:lnTo>
                  <a:pt x="4225925" y="0"/>
                </a:lnTo>
                <a:lnTo>
                  <a:pt x="4225925" y="4225926"/>
                </a:lnTo>
                <a:lnTo>
                  <a:pt x="0" y="4225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0" name="Freeform 60"/>
          <p:cNvSpPr/>
          <p:nvPr/>
        </p:nvSpPr>
        <p:spPr>
          <a:xfrm rot="8351299">
            <a:off x="-205556" y="5684276"/>
            <a:ext cx="4153653" cy="2346814"/>
          </a:xfrm>
          <a:custGeom>
            <a:avLst/>
            <a:gdLst/>
            <a:ahLst/>
            <a:cxnLst/>
            <a:rect l="l" t="t" r="r" b="b"/>
            <a:pathLst>
              <a:path w="4153653" h="2346814">
                <a:moveTo>
                  <a:pt x="0" y="0"/>
                </a:moveTo>
                <a:lnTo>
                  <a:pt x="4153652" y="0"/>
                </a:lnTo>
                <a:lnTo>
                  <a:pt x="4153652" y="2346813"/>
                </a:lnTo>
                <a:lnTo>
                  <a:pt x="0" y="2346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1" name="TextBox 61"/>
          <p:cNvSpPr txBox="1"/>
          <p:nvPr/>
        </p:nvSpPr>
        <p:spPr>
          <a:xfrm>
            <a:off x="876300" y="238125"/>
            <a:ext cx="5715000" cy="78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76300" y="1047750"/>
            <a:ext cx="6667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Propósito general y metas específicas del proyecto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1075" y="3705225"/>
            <a:ext cx="4953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6300" y="4543743"/>
            <a:ext cx="4857750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Diseñar e implementar un sistema web centralizado que automatice la trazabilidad y gestión de inventario del instrumental quirúrgico en el servicio de esterilización del Hospital San José de Melipilla.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28700" y="6819582"/>
            <a:ext cx="485775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98E3B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"Transformar procesos manuales en flujos digitales trazables"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048500" y="2362200"/>
            <a:ext cx="1066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02531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239000" y="3067050"/>
            <a:ext cx="381000" cy="450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762875" y="31623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Levantar y modelar los procesos actuales de esterilización mediante entrevistas y observación directa.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239000" y="4333875"/>
            <a:ext cx="381000" cy="4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62875" y="44196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Diseñar la arquitectura del sistema web con módulos de trazabilidad, inventario y custodia.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239000" y="5591175"/>
            <a:ext cx="381000" cy="44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762875" y="56769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Desarrollar el MVP funcional aplicando metodología Scrum en sprints de 2 semanas.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239000" y="6858000"/>
            <a:ext cx="381000" cy="42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762875" y="69342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Implementar validaciones en tiempo real para garantizar la integridad de los datos clínicos.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239000" y="8115300"/>
            <a:ext cx="381000" cy="425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762875" y="81915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Evaluar el sistema mediante pruebas de usabilidad y métricas de rendimiento operativo.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0"/>
            <a:chOff x="0" y="0"/>
            <a:chExt cx="24384000" cy="254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0"/>
            </a:xfrm>
            <a:custGeom>
              <a:avLst/>
              <a:gdLst/>
              <a:ahLst/>
              <a:cxnLst/>
              <a:rect l="l" t="t" r="r" b="b"/>
              <a:pathLst>
                <a:path w="24384000" h="2540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905000"/>
            <a:ext cx="18288000" cy="47625"/>
            <a:chOff x="0" y="0"/>
            <a:chExt cx="2438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76300" y="209550"/>
            <a:ext cx="5715000" cy="72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0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Alcances del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1047750"/>
            <a:ext cx="6667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Lo que incluye y lo que queda fuera del sistema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2286000"/>
            <a:ext cx="8286750" cy="666750"/>
            <a:chOff x="0" y="0"/>
            <a:chExt cx="11049000" cy="88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49000" cy="889000"/>
            </a:xfrm>
            <a:custGeom>
              <a:avLst/>
              <a:gdLst/>
              <a:ahLst/>
              <a:cxnLst/>
              <a:rect l="l" t="t" r="r" b="b"/>
              <a:pathLst>
                <a:path w="11049000" h="88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D8A6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2000" y="2400300"/>
            <a:ext cx="790575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 SÍ INCLUYE EL SISTEMA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3143250"/>
            <a:ext cx="8286750" cy="1428750"/>
            <a:chOff x="0" y="0"/>
            <a:chExt cx="11049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3143250"/>
            <a:ext cx="57150" cy="1428750"/>
            <a:chOff x="0" y="0"/>
            <a:chExt cx="76200" cy="190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893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3333750"/>
            <a:ext cx="476250" cy="476250"/>
            <a:chOff x="0" y="0"/>
            <a:chExt cx="635000" cy="63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E893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00100" y="33813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750" y="32766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por Estados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8750" y="360045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Seguimiento completo del instrumental para registrar las 6 fases del ciclo: recepción, lavado, preparación, esterilización, almacenamiento y entrega.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71500" y="4743450"/>
            <a:ext cx="8286750" cy="1428750"/>
            <a:chOff x="0" y="0"/>
            <a:chExt cx="11049000" cy="1905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743450"/>
            <a:ext cx="57150" cy="1428750"/>
            <a:chOff x="0" y="0"/>
            <a:chExt cx="76200" cy="1905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0100" y="4933950"/>
            <a:ext cx="476250" cy="476250"/>
            <a:chOff x="0" y="0"/>
            <a:chExt cx="635000" cy="635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00100" y="49815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8750" y="48768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 Digital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7800" y="515112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Inventario digital por caja médica, en reemplazo del registro en papel.</a:t>
            </a:r>
          </a:p>
          <a:p>
            <a:pPr algn="l">
              <a:lnSpc>
                <a:spcPts val="2100"/>
              </a:lnSpc>
            </a:pPr>
            <a:endParaRPr lang="en-US" sz="1400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571500" y="6343650"/>
            <a:ext cx="8286750" cy="1428750"/>
            <a:chOff x="0" y="0"/>
            <a:chExt cx="11049000" cy="1905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6343650"/>
            <a:ext cx="57150" cy="1428750"/>
            <a:chOff x="0" y="0"/>
            <a:chExt cx="76200" cy="1905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9B72B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0100" y="6534150"/>
            <a:ext cx="476250" cy="476250"/>
            <a:chOff x="0" y="0"/>
            <a:chExt cx="635000" cy="635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9B72B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00100" y="65817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8750" y="64770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Custodia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8750" y="6748145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Asignación y transferencia de responsabilidad sobre quién entrega y quién recibe cada set de instrumental.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7943850"/>
            <a:ext cx="8286750" cy="1428750"/>
            <a:chOff x="0" y="0"/>
            <a:chExt cx="11049000" cy="1905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7943850"/>
            <a:ext cx="57150" cy="1428750"/>
            <a:chOff x="0" y="0"/>
            <a:chExt cx="76200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AAB7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0100" y="8134350"/>
            <a:ext cx="476250" cy="476250"/>
            <a:chOff x="0" y="0"/>
            <a:chExt cx="635000" cy="635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AAB7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800100" y="81819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28750" y="80772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 y Alertas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28750" y="8401050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Generación automática de informes y notificaciones en tiempo real.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429750" y="2286000"/>
            <a:ext cx="8286750" cy="666750"/>
            <a:chOff x="0" y="0"/>
            <a:chExt cx="11049000" cy="889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49000" cy="889000"/>
            </a:xfrm>
            <a:custGeom>
              <a:avLst/>
              <a:gdLst/>
              <a:ahLst/>
              <a:cxnLst/>
              <a:rect l="l" t="t" r="r" b="b"/>
              <a:pathLst>
                <a:path w="11049000" h="88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8545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620250" y="2400300"/>
            <a:ext cx="790575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🚫  FUERA DE ALCANCE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9429750" y="3143250"/>
            <a:ext cx="8286750" cy="1428750"/>
            <a:chOff x="0" y="0"/>
            <a:chExt cx="11049000" cy="1905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429750" y="3143250"/>
            <a:ext cx="57150" cy="1428750"/>
            <a:chOff x="0" y="0"/>
            <a:chExt cx="76200" cy="19050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658350" y="3333750"/>
            <a:ext cx="476250" cy="476250"/>
            <a:chOff x="0" y="0"/>
            <a:chExt cx="635000" cy="6350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9658350" y="32480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287000" y="32766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Renovación de equipos físicos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287000" y="3733800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contempla la compra ni integración con hardware biométrico complejo.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9429750" y="4743450"/>
            <a:ext cx="8286750" cy="1428750"/>
            <a:chOff x="0" y="0"/>
            <a:chExt cx="11049000" cy="19050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429750" y="4743450"/>
            <a:ext cx="57150" cy="1428750"/>
            <a:chOff x="0" y="0"/>
            <a:chExt cx="76200" cy="19050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658350" y="4933950"/>
            <a:ext cx="476250" cy="476250"/>
            <a:chOff x="0" y="0"/>
            <a:chExt cx="635000" cy="6350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658350" y="48482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0287000" y="48768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Remodelación de infraestructura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287000" y="520065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incluye obras civiles ni modificaciones al espacio físico del servicio de esterilización.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9429750" y="6343650"/>
            <a:ext cx="8286750" cy="1428750"/>
            <a:chOff x="0" y="0"/>
            <a:chExt cx="11049000" cy="19050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9750" y="6343650"/>
            <a:ext cx="57150" cy="1428750"/>
            <a:chOff x="0" y="0"/>
            <a:chExt cx="76200" cy="19050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658350" y="6534150"/>
            <a:ext cx="476250" cy="476250"/>
            <a:chOff x="0" y="0"/>
            <a:chExt cx="635000" cy="6350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658350" y="64484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287000" y="64770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Externa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287000" y="6833017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abarca como se distribuye de manera externa el material quirurgico. </a:t>
            </a:r>
          </a:p>
        </p:txBody>
      </p:sp>
      <p:sp>
        <p:nvSpPr>
          <p:cNvPr id="102" name="AutoShape 102"/>
          <p:cNvSpPr/>
          <p:nvPr/>
        </p:nvSpPr>
        <p:spPr>
          <a:xfrm>
            <a:off x="9144000" y="2476500"/>
            <a:ext cx="0" cy="6896100"/>
          </a:xfrm>
          <a:prstGeom prst="line">
            <a:avLst/>
          </a:prstGeom>
          <a:ln w="19050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Box 103"/>
          <p:cNvSpPr txBox="1"/>
          <p:nvPr/>
        </p:nvSpPr>
        <p:spPr>
          <a:xfrm>
            <a:off x="9486900" y="8103235"/>
            <a:ext cx="8229600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*El MVP prioriza el núcleo funcional de trazabilidad para asegurar su cumplimiento dentro de las 18 semanas del semestre.</a:t>
            </a:r>
          </a:p>
          <a:p>
            <a:pPr algn="l">
              <a:lnSpc>
                <a:spcPts val="1819"/>
              </a:lnSpc>
            </a:pPr>
            <a:endParaRPr lang="en-US" sz="1299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21316" cy="10287000"/>
            <a:chOff x="0" y="0"/>
            <a:chExt cx="11907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0799" cy="2709333"/>
            </a:xfrm>
            <a:custGeom>
              <a:avLst/>
              <a:gdLst/>
              <a:ahLst/>
              <a:cxnLst/>
              <a:rect l="l" t="t" r="r" b="b"/>
              <a:pathLst>
                <a:path w="1190799" h="2709333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65029" y="595023"/>
            <a:ext cx="6054493" cy="7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2"/>
              </a:lnSpc>
            </a:pPr>
            <a:r>
              <a:rPr lang="en-US" sz="519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Hitos 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9" y="1379121"/>
            <a:ext cx="6054493" cy="7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2"/>
              </a:lnSpc>
            </a:pPr>
            <a:r>
              <a:rPr lang="en-US" sz="519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id="7" name="Freeform 7"/>
          <p:cNvSpPr/>
          <p:nvPr/>
        </p:nvSpPr>
        <p:spPr>
          <a:xfrm>
            <a:off x="12928095" y="3921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57246" y="2671656"/>
            <a:ext cx="38068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Planificación de 18 semanas bajo el marco ágil </a:t>
            </a:r>
            <a:r>
              <a:rPr lang="en-US" sz="2000" b="1">
                <a:solidFill>
                  <a:srgbClr val="555555"/>
                </a:solidFill>
                <a:latin typeface="Poppins Bold"/>
                <a:ea typeface="Poppins Bold"/>
                <a:cs typeface="Poppins Bold"/>
                <a:sym typeface="Poppins Bold"/>
              </a:rPr>
              <a:t>Scrum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7246" y="8824207"/>
            <a:ext cx="3810000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 Sprints iterativos e incrementales, con roles distribuidos: </a:t>
            </a: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Owner, Scrum Master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Team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915150" y="2714625"/>
            <a:ext cx="8820150" cy="0"/>
          </a:xfrm>
          <a:prstGeom prst="line">
            <a:avLst/>
          </a:prstGeom>
          <a:ln w="2857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1" name="Group 11"/>
          <p:cNvGrpSpPr/>
          <p:nvPr/>
        </p:nvGrpSpPr>
        <p:grpSpPr>
          <a:xfrm>
            <a:off x="4857750" y="2762250"/>
            <a:ext cx="4124325" cy="3764139"/>
            <a:chOff x="0" y="0"/>
            <a:chExt cx="5499100" cy="50188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99100" cy="5018852"/>
            </a:xfrm>
            <a:custGeom>
              <a:avLst/>
              <a:gdLst/>
              <a:ahLst/>
              <a:cxnLst/>
              <a:rect l="l" t="t" r="r" b="b"/>
              <a:pathLst>
                <a:path w="5499100" h="501885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81775" y="2381250"/>
            <a:ext cx="666750" cy="666750"/>
            <a:chOff x="0" y="0"/>
            <a:chExt cx="889000" cy="889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581775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1100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38725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 del Proyecto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143500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>
            <a:off x="5095875" y="3971925"/>
            <a:ext cx="3648075" cy="206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Descripción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Fundamentación del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Objetivos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Metodología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Evidencias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Plan de trabajo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Cronograma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67825" y="2762250"/>
            <a:ext cx="4124325" cy="3764139"/>
            <a:chOff x="0" y="0"/>
            <a:chExt cx="5499100" cy="50188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99100" cy="5018852"/>
            </a:xfrm>
            <a:custGeom>
              <a:avLst/>
              <a:gdLst/>
              <a:ahLst/>
              <a:cxnLst/>
              <a:rect l="l" t="t" r="r" b="b"/>
              <a:pathLst>
                <a:path w="5499100" h="501885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91850" y="2381250"/>
            <a:ext cx="666750" cy="666750"/>
            <a:chOff x="0" y="0"/>
            <a:chExt cx="889000" cy="889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991850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1175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48800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Funcional</a:t>
            </a:r>
          </a:p>
        </p:txBody>
      </p:sp>
      <p:sp>
        <p:nvSpPr>
          <p:cNvPr id="31" name="AutoShape 31"/>
          <p:cNvSpPr/>
          <p:nvPr/>
        </p:nvSpPr>
        <p:spPr>
          <a:xfrm>
            <a:off x="9553575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Box 32"/>
          <p:cNvSpPr txBox="1"/>
          <p:nvPr/>
        </p:nvSpPr>
        <p:spPr>
          <a:xfrm>
            <a:off x="9505950" y="3971925"/>
            <a:ext cx="3648075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Modelo de datos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Arquitectura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Control de custodia completo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Transferencia de responsabilidad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Reportes automáticos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Alertas y notificaciones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677900" y="2762250"/>
            <a:ext cx="4124325" cy="3707694"/>
            <a:chOff x="0" y="0"/>
            <a:chExt cx="5499100" cy="49435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99100" cy="4943592"/>
            </a:xfrm>
            <a:custGeom>
              <a:avLst/>
              <a:gdLst/>
              <a:ahLst/>
              <a:cxnLst/>
              <a:rect l="l" t="t" r="r" b="b"/>
              <a:pathLst>
                <a:path w="5499100" h="494359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1283"/>
                    <a:pt x="5499100" y="293230"/>
                  </a:cubicBezTo>
                  <a:lnTo>
                    <a:pt x="5499100" y="4650363"/>
                  </a:lnTo>
                  <a:cubicBezTo>
                    <a:pt x="5499100" y="4812309"/>
                    <a:pt x="5252897" y="4943592"/>
                    <a:pt x="4949190" y="4943592"/>
                  </a:cubicBezTo>
                  <a:lnTo>
                    <a:pt x="549910" y="4943592"/>
                  </a:lnTo>
                  <a:cubicBezTo>
                    <a:pt x="246203" y="4943592"/>
                    <a:pt x="0" y="4812309"/>
                    <a:pt x="0" y="4650363"/>
                  </a:cubicBezTo>
                  <a:lnTo>
                    <a:pt x="0" y="293230"/>
                  </a:lnTo>
                  <a:cubicBezTo>
                    <a:pt x="0" y="131283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499100" cy="4981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401925" y="2381250"/>
            <a:ext cx="666750" cy="666750"/>
            <a:chOff x="0" y="0"/>
            <a:chExt cx="889000" cy="889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401925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811250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858875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Cierre y Defensa</a:t>
            </a:r>
          </a:p>
        </p:txBody>
      </p:sp>
      <p:sp>
        <p:nvSpPr>
          <p:cNvPr id="42" name="AutoShape 42"/>
          <p:cNvSpPr/>
          <p:nvPr/>
        </p:nvSpPr>
        <p:spPr>
          <a:xfrm>
            <a:off x="13963650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Box 43"/>
          <p:cNvSpPr txBox="1"/>
          <p:nvPr/>
        </p:nvSpPr>
        <p:spPr>
          <a:xfrm>
            <a:off x="13916025" y="3971925"/>
            <a:ext cx="364807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Sistema desplegado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Documentación completa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Manuales técnicos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Lecciones aprendidas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Defensa ante la comisión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30778" y="0"/>
            <a:ext cx="4521316" cy="10287000"/>
            <a:chOff x="0" y="0"/>
            <a:chExt cx="11907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0799" cy="2709333"/>
            </a:xfrm>
            <a:custGeom>
              <a:avLst/>
              <a:gdLst/>
              <a:ahLst/>
              <a:cxnLst/>
              <a:rect l="l" t="t" r="r" b="b"/>
              <a:pathLst>
                <a:path w="1190799" h="2709333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2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6311516" cy="8229600"/>
            <a:chOff x="0" y="0"/>
            <a:chExt cx="15567280" cy="202982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7279" cy="20298212"/>
            </a:xfrm>
            <a:custGeom>
              <a:avLst/>
              <a:gdLst/>
              <a:ahLst/>
              <a:cxnLst/>
              <a:rect l="l" t="t" r="r" b="b"/>
              <a:pathLst>
                <a:path w="15567279" h="20298212">
                  <a:moveTo>
                    <a:pt x="0" y="0"/>
                  </a:moveTo>
                  <a:lnTo>
                    <a:pt x="15567279" y="0"/>
                  </a:lnTo>
                  <a:lnTo>
                    <a:pt x="15567279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74181" r="-7418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08783" y="3419112"/>
            <a:ext cx="9550517" cy="67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18"/>
              </a:lnSpc>
            </a:pPr>
            <a:r>
              <a:rPr lang="en-US" sz="4461" b="1">
                <a:solidFill>
                  <a:srgbClr val="1A2A3A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05725" y="5181600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Transformación Digital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05725" y="5591175"/>
            <a:ext cx="95535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Sistema digital de trazabilidad que reemplaza registros manuales, reduce errores humanos.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5725" y="6200775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Entrega Ágil en 18 Semanas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05725" y="6477000"/>
            <a:ext cx="9553575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MVP funcional bajo Scrum que cubre el ciclo completo: recepción, lavado, preparación, esterilización, almacenamiento y entrega.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05725" y="7219950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Visión Futura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05725" y="7496175"/>
            <a:ext cx="9553575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Escalabilidad hacia otros servicios hospitalarios e incorporación de tecnologías como RFID para una trazabilidad aún más precisa.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Personalizado</PresentationFormat>
  <Paragraphs>125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Poppins</vt:lpstr>
      <vt:lpstr>Poppins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con fase I</dc:title>
  <cp:lastModifiedBy>NATALIA CAROLINA SANCHEZ HERRADA</cp:lastModifiedBy>
  <cp:revision>2</cp:revision>
  <dcterms:created xsi:type="dcterms:W3CDTF">2006-08-16T00:00:00Z</dcterms:created>
  <dcterms:modified xsi:type="dcterms:W3CDTF">2026-08-31T22:53:56Z</dcterms:modified>
  <dc:identifier>DAHTy7oCojY</dc:identifier>
</cp:coreProperties>
</file>