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hug9ppHKR5BMAEozvullJjuNqK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3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3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3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3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1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Relationship Id="rId4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Relationship Id="rId4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Relationship Id="rId4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Relationship Id="rId4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jpg"/><Relationship Id="rId4" Type="http://schemas.openxmlformats.org/officeDocument/2006/relationships/image" Target="../media/image9.png"/><Relationship Id="rId5" Type="http://schemas.openxmlformats.org/officeDocument/2006/relationships/hyperlink" Target="https://www.canva.com/design/DAGj6G-V-Ao/ECpx7FhkM8CnwEpO6eRmGw/edit?utm_content=DAGj6G-V-Ao&amp;utm_campaign=designshare&amp;utm_medium=link2&amp;utm_source=sharebutton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jpg"/><Relationship Id="rId4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“SISTEMA DE GESTIÓN COMANDA”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FINAL PORTAFOLIO DE TÍTULO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0" name="Google Shape;9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" name="Google Shape;91;p2"/>
          <p:cNvGrpSpPr/>
          <p:nvPr/>
        </p:nvGrpSpPr>
        <p:grpSpPr>
          <a:xfrm>
            <a:off x="4121026" y="1710819"/>
            <a:ext cx="7633494" cy="4350553"/>
            <a:chOff x="0" y="0"/>
            <a:chExt cx="7633494" cy="4350553"/>
          </a:xfrm>
        </p:grpSpPr>
        <p:sp>
          <p:nvSpPr>
            <p:cNvPr id="92" name="Google Shape;92;p2"/>
            <p:cNvSpPr/>
            <p:nvPr/>
          </p:nvSpPr>
          <p:spPr>
            <a:xfrm>
              <a:off x="0" y="0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2"/>
            <p:cNvSpPr txBox="1"/>
            <p:nvPr/>
          </p:nvSpPr>
          <p:spPr>
            <a:xfrm>
              <a:off x="1662653" y="0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Calibri"/>
                <a:buNone/>
              </a:pPr>
              <a:r>
                <a:rPr b="0" i="0" lang="es-MX" sz="22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Franco Muga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7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Calibri"/>
                <a:buChar char="•"/>
              </a:pPr>
              <a:r>
                <a:rPr b="0" i="0" lang="es-MX" sz="17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Developer</a:t>
              </a:r>
              <a:endParaRPr b="0" i="0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55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Calibri"/>
                <a:buChar char="•"/>
              </a:pPr>
              <a:r>
                <a:rPr b="0" i="0" lang="es-MX" sz="17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Desarrollador de frontend, backend y documentación.</a:t>
              </a:r>
              <a:endParaRPr b="0" i="0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135954" y="135954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0" y="1495502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1662653" y="1495502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Calibri"/>
                <a:buNone/>
              </a:pPr>
              <a:r>
                <a:rPr b="0" i="0" lang="es-MX" sz="22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Roberto Astudillo</a:t>
              </a:r>
              <a:endParaRPr b="0" i="0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7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Calibri"/>
                <a:buChar char="•"/>
              </a:pPr>
              <a:r>
                <a:rPr b="0" i="0" lang="es-MX" sz="17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Developer</a:t>
              </a:r>
              <a:endParaRPr b="0" i="0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55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Calibri"/>
                <a:buChar char="•"/>
              </a:pPr>
              <a:r>
                <a:rPr b="0" i="0" lang="es-MX" sz="17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Desarrollador de frontend, backend y documentación.</a:t>
              </a:r>
              <a:endParaRPr b="0" i="0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35954" y="1631457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0" y="2991005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2"/>
            <p:cNvSpPr txBox="1"/>
            <p:nvPr/>
          </p:nvSpPr>
          <p:spPr>
            <a:xfrm>
              <a:off x="1662653" y="2991005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Calibri"/>
                <a:buNone/>
              </a:pPr>
              <a:r>
                <a:rPr b="0" i="0" lang="es-MX" sz="22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Natalia Sánchez</a:t>
              </a:r>
              <a:endParaRPr b="0" i="0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7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Calibri"/>
                <a:buChar char="•"/>
              </a:pPr>
              <a:r>
                <a:rPr b="0" i="0" lang="es-MX" sz="17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Product owner, Developer</a:t>
              </a:r>
              <a:endParaRPr b="0" i="0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55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Calibri"/>
                <a:buChar char="•"/>
              </a:pPr>
              <a:r>
                <a:rPr b="0" i="0" lang="es-MX" sz="17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Desarrollador de frontend, backend y documentación, también se comunica con el cliente</a:t>
              </a:r>
              <a:endParaRPr b="0" i="0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35954" y="3126960"/>
              <a:ext cx="1526698" cy="1087638"/>
            </a:xfrm>
            <a:prstGeom prst="roundRect">
              <a:avLst>
                <a:gd fmla="val 10000" name="adj"/>
              </a:avLst>
            </a:prstGeom>
            <a:blipFill rotWithShape="1">
              <a:blip r:embed="rId4">
                <a:alphaModFix/>
              </a:blip>
              <a:stretch>
                <a:fillRect b="-74998" l="0" r="0" t="-74995"/>
              </a:stretch>
            </a:blip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" name="Google Shape;101;p2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“Sistema de gestión de comandas – COMANDA”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08" name="Google Shape;10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3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“Sistema de gestión de comandas – COMANDA”</a:t>
            </a:r>
            <a:endParaRPr/>
          </a:p>
        </p:txBody>
      </p:sp>
      <p:sp>
        <p:nvSpPr>
          <p:cNvPr id="110" name="Google Shape;110;p3"/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" name="Google Shape;111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2" name="Google Shape;112;p3"/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Actualmente, el restaurante del Cuerpo de Bomberos de Melipilla enfrenta una gestión manual de comandas, lo que genera errores de comunicación, desorganización en la cocina y falta de seguimiento de estas. Esto impacta negativamente la atención, genera sobrecarga en el equipo y dificulta la coordinación entre garzones, cocina y caja, especialmente en contextos donde se requiere rapidez y precisión, como con bomberos en servicio.</a:t>
            </a:r>
            <a:endParaRPr sz="16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Diseñar e implementar un sistema web llamado COMANDA que digitalice el proceso de toma y gestión de pedidos. Permitirá registrar comandas desde tablets, visualizarlas en cocina en tiempo real, calcular el total automáticamente y mejorar la coordinación entre áreas. Esto optimizará el flujo de atención, reducirá errores y mejorará la experiencia de servicio para el personal del restaurante.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19" name="Google Shape;11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4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“Sistema de gestión de comandas – COMANDA”</a:t>
            </a:r>
            <a:endParaRPr/>
          </a:p>
        </p:txBody>
      </p:sp>
      <p:sp>
        <p:nvSpPr>
          <p:cNvPr id="121" name="Google Shape;121;p4"/>
          <p:cNvSpPr txBox="1"/>
          <p:nvPr/>
        </p:nvSpPr>
        <p:spPr>
          <a:xfrm>
            <a:off x="0" y="2119313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" name="Google Shape;122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3" name="Google Shape;123;p4"/>
          <p:cNvSpPr/>
          <p:nvPr/>
        </p:nvSpPr>
        <p:spPr>
          <a:xfrm>
            <a:off x="614515" y="3020286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Crear una herramienta digital sencilla que reemplace el uso de papel en el restaurante del Cuerpo de Bomberos de Melipilla, para que las comandas se registren y gestionen de forma más rápida, ordenada y clara, mejorando así la atención y el trabajo del equipo.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28" name="Google Shape;12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5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“Sistema de gestión de comandas – COMANDA”</a:t>
            </a:r>
            <a:endParaRPr/>
          </a:p>
        </p:txBody>
      </p:sp>
      <p:cxnSp>
        <p:nvCxnSpPr>
          <p:cNvPr id="130" name="Google Shape;130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1" name="Google Shape;131;p5"/>
          <p:cNvSpPr txBox="1"/>
          <p:nvPr/>
        </p:nvSpPr>
        <p:spPr>
          <a:xfrm>
            <a:off x="-167950" y="1301924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614514" y="2071397"/>
            <a:ext cx="10962967" cy="4236232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Permitir la toma de comandas desde tablets por parte del garzón.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Hacer que los pedidos se vean de inmediato en la cocina.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Marcar las mesas como desocupadas desde la caja al terminar la atención.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Organizar los productos por categoría para encontrarlos más fácilmente.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Mostrar los productos más vendidos.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Calcular el precio total de cada comanda.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Capacitar al personal en el uso básico del sistema.</a:t>
            </a:r>
            <a:endParaRPr/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37" name="Google Shape;13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6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“Sistema de gestión de comandas – COMANDA”</a:t>
            </a:r>
            <a:endParaRPr/>
          </a:p>
        </p:txBody>
      </p:sp>
      <p:cxnSp>
        <p:nvCxnSpPr>
          <p:cNvPr id="139" name="Google Shape;139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0" name="Google Shape;140;p6"/>
          <p:cNvSpPr txBox="1"/>
          <p:nvPr/>
        </p:nvSpPr>
        <p:spPr>
          <a:xfrm>
            <a:off x="-167950" y="1301924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 y limitaciones del proyecto</a:t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614514" y="2071397"/>
            <a:ext cx="10962967" cy="4236232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se incluye ninguna medida de ciberseguridad.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se implementará control de stock ni manejo de ingredientes. Esto se omite para no dificultar el trabajo en la cocina. 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contará con una vista para crear o editar productos desde el sistema. 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se generarán boletas ni facturación electrónica. 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se garantizará compatibilidad con dispositivos móviles fuera de tablets y PC.</a:t>
            </a:r>
            <a:endParaRPr/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6" name="Google Shape;14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7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“Sistema de gestión de comandas – COMANDA”</a:t>
            </a:r>
            <a:endParaRPr/>
          </a:p>
        </p:txBody>
      </p:sp>
      <p:sp>
        <p:nvSpPr>
          <p:cNvPr id="148" name="Google Shape;148;p7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de trabajo para el desarrollo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9" name="Google Shape;149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Metodologías ágiles: ¿por qué se usan para crear apps? - Doonamis" id="150" name="Google Shape;15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42808" y="2321313"/>
            <a:ext cx="7931020" cy="3943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5" name="Google Shape;15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8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“Sistema de gestión de comandas – COMANDA”</a:t>
            </a:r>
            <a:endParaRPr/>
          </a:p>
        </p:txBody>
      </p:sp>
      <p:cxnSp>
        <p:nvCxnSpPr>
          <p:cNvPr id="157" name="Google Shape;157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8" name="Google Shape;158;p8"/>
          <p:cNvSpPr txBox="1"/>
          <p:nvPr/>
        </p:nvSpPr>
        <p:spPr>
          <a:xfrm>
            <a:off x="1" y="1326421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Sprint 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614514" y="2071397"/>
            <a:ext cx="10962967" cy="4236232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Crear la vista para que el garzón pueda ingresar comandas desde una tablet. 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Mostrar las comandas en la cocina, ordenadas por tiempo. 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Dividir los productos por categoría para facilitar su búsqueda.</a:t>
            </a:r>
            <a:endParaRPr/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4" name="Google Shape;16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9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“Sistema de gestión de comandas – COMANDA”</a:t>
            </a:r>
            <a:endParaRPr/>
          </a:p>
        </p:txBody>
      </p:sp>
      <p:cxnSp>
        <p:nvCxnSpPr>
          <p:cNvPr id="166" name="Google Shape;166;p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7" name="Google Shape;167;p9"/>
          <p:cNvSpPr txBox="1"/>
          <p:nvPr/>
        </p:nvSpPr>
        <p:spPr>
          <a:xfrm>
            <a:off x="1" y="1326421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Sprint 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614514" y="2071397"/>
            <a:ext cx="10962967" cy="4236232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Implementar una vista para caja. 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Permitir visualizar el estado de las comandas y tener un historial ordenado.</a:t>
            </a:r>
            <a:endParaRPr/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3" name="Google Shape;17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0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“Sistema de gestión de comandas – COMANDA”</a:t>
            </a:r>
            <a:endParaRPr/>
          </a:p>
        </p:txBody>
      </p:sp>
      <p:cxnSp>
        <p:nvCxnSpPr>
          <p:cNvPr id="175" name="Google Shape;175;p1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6" name="Google Shape;176;p10"/>
          <p:cNvSpPr txBox="1"/>
          <p:nvPr/>
        </p:nvSpPr>
        <p:spPr>
          <a:xfrm>
            <a:off x="1" y="1326421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Sprint 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614514" y="2071397"/>
            <a:ext cx="10962967" cy="4236232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Registrar y mostrar los productos más vendidos del día. 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Permitir que el administrador revise esta información para análisis manual.</a:t>
            </a:r>
            <a:endParaRPr/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82" name="Google Shape;18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1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“Sistema de gestión de comandas – COMANDA”</a:t>
            </a:r>
            <a:endParaRPr/>
          </a:p>
        </p:txBody>
      </p:sp>
      <p:sp>
        <p:nvSpPr>
          <p:cNvPr id="184" name="Google Shape;184;p11"/>
          <p:cNvSpPr txBox="1"/>
          <p:nvPr/>
        </p:nvSpPr>
        <p:spPr>
          <a:xfrm>
            <a:off x="1" y="1155656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para el desarrollo del proyecto</a:t>
            </a:r>
            <a:endParaRPr/>
          </a:p>
        </p:txBody>
      </p:sp>
      <p:cxnSp>
        <p:nvCxnSpPr>
          <p:cNvPr id="185" name="Google Shape;185;p11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86" name="Google Shape;18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2947" y="2524815"/>
            <a:ext cx="11066106" cy="33351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91" name="Google Shape;19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2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“Sistema de gestión de comandas – COMANDA”</a:t>
            </a:r>
            <a:endParaRPr/>
          </a:p>
        </p:txBody>
      </p:sp>
      <p:sp>
        <p:nvSpPr>
          <p:cNvPr id="193" name="Google Shape;193;p12"/>
          <p:cNvSpPr txBox="1"/>
          <p:nvPr/>
        </p:nvSpPr>
        <p:spPr>
          <a:xfrm>
            <a:off x="1" y="1155656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para el desarrollo del proyecto</a:t>
            </a:r>
            <a:endParaRPr/>
          </a:p>
        </p:txBody>
      </p:sp>
      <p:cxnSp>
        <p:nvCxnSpPr>
          <p:cNvPr id="194" name="Google Shape;194;p1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95" name="Google Shape;19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2947" y="2493711"/>
            <a:ext cx="11066106" cy="33351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0" name="Google Shape;20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3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“Sistema de gestión de comandas – COMANDA”</a:t>
            </a:r>
            <a:endParaRPr/>
          </a:p>
        </p:txBody>
      </p:sp>
      <p:sp>
        <p:nvSpPr>
          <p:cNvPr id="202" name="Google Shape;202;p13"/>
          <p:cNvSpPr txBox="1"/>
          <p:nvPr/>
        </p:nvSpPr>
        <p:spPr>
          <a:xfrm>
            <a:off x="1" y="1155656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para el desarrollo del proyecto</a:t>
            </a:r>
            <a:endParaRPr/>
          </a:p>
        </p:txBody>
      </p:sp>
      <p:cxnSp>
        <p:nvCxnSpPr>
          <p:cNvPr id="203" name="Google Shape;203;p1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04" name="Google Shape;20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8270" y="2342713"/>
            <a:ext cx="11090783" cy="3637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9" name="Google Shape;20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4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“Sistema de gestión de comandas – COMANDA”</a:t>
            </a:r>
            <a:endParaRPr/>
          </a:p>
        </p:txBody>
      </p:sp>
      <p:sp>
        <p:nvSpPr>
          <p:cNvPr id="211" name="Google Shape;211;p14"/>
          <p:cNvSpPr txBox="1"/>
          <p:nvPr/>
        </p:nvSpPr>
        <p:spPr>
          <a:xfrm>
            <a:off x="1" y="1155656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para el desarrollo del proyecto</a:t>
            </a:r>
            <a:endParaRPr/>
          </a:p>
        </p:txBody>
      </p:sp>
      <p:cxnSp>
        <p:nvCxnSpPr>
          <p:cNvPr id="212" name="Google Shape;212;p1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13" name="Google Shape;21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8270" y="2092817"/>
            <a:ext cx="11151078" cy="3887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18" name="Google Shape;21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5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“Sistema de gestión de comandas – COMANDA”</a:t>
            </a:r>
            <a:endParaRPr/>
          </a:p>
        </p:txBody>
      </p:sp>
      <p:sp>
        <p:nvSpPr>
          <p:cNvPr id="220" name="Google Shape;220;p15"/>
          <p:cNvSpPr txBox="1"/>
          <p:nvPr/>
        </p:nvSpPr>
        <p:spPr>
          <a:xfrm>
            <a:off x="1" y="1155656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para el desarrollo del proyecto</a:t>
            </a:r>
            <a:endParaRPr/>
          </a:p>
        </p:txBody>
      </p:sp>
      <p:cxnSp>
        <p:nvCxnSpPr>
          <p:cNvPr id="221" name="Google Shape;221;p1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22" name="Google Shape;22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3879" y="2790881"/>
            <a:ext cx="11344242" cy="27328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27" name="Google Shape;22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6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“Sistema de gestión de comandas – COMANDA”</a:t>
            </a:r>
            <a:endParaRPr/>
          </a:p>
        </p:txBody>
      </p:sp>
      <p:sp>
        <p:nvSpPr>
          <p:cNvPr id="229" name="Google Shape;229;p16"/>
          <p:cNvSpPr txBox="1"/>
          <p:nvPr/>
        </p:nvSpPr>
        <p:spPr>
          <a:xfrm>
            <a:off x="1" y="1155656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para el desarrollo del proyecto</a:t>
            </a:r>
            <a:endParaRPr/>
          </a:p>
        </p:txBody>
      </p:sp>
      <p:cxnSp>
        <p:nvCxnSpPr>
          <p:cNvPr id="230" name="Google Shape;230;p1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31" name="Google Shape;23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7693" y="2219383"/>
            <a:ext cx="10996613" cy="35999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36" name="Google Shape;23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7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“Sistema de gestión de comandas – COMANDA”</a:t>
            </a:r>
            <a:endParaRPr/>
          </a:p>
        </p:txBody>
      </p:sp>
      <p:sp>
        <p:nvSpPr>
          <p:cNvPr id="238" name="Google Shape;238;p17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del software</a:t>
            </a:r>
            <a:endParaRPr/>
          </a:p>
        </p:txBody>
      </p:sp>
      <p:cxnSp>
        <p:nvCxnSpPr>
          <p:cNvPr id="239" name="Google Shape;239;p1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Diagrama, Tabla&#10;&#10;El contenido generado por IA puede ser incorrecto." id="240" name="Google Shape;240;p17"/>
          <p:cNvPicPr preferRelativeResize="0"/>
          <p:nvPr/>
        </p:nvPicPr>
        <p:blipFill rotWithShape="1">
          <a:blip r:embed="rId4">
            <a:alphaModFix/>
          </a:blip>
          <a:srcRect b="36598" l="0" r="0" t="36728"/>
          <a:stretch/>
        </p:blipFill>
        <p:spPr>
          <a:xfrm>
            <a:off x="-1" y="2727099"/>
            <a:ext cx="12192000" cy="1829327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7"/>
          <p:cNvSpPr txBox="1"/>
          <p:nvPr/>
        </p:nvSpPr>
        <p:spPr>
          <a:xfrm>
            <a:off x="136189" y="5001208"/>
            <a:ext cx="1189097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https://www.canva.com/design/DAGj6G-V-Ao/ECpx7FhkM8CnwEpO6eRmGw/edit?utm_content=DAGj6G-V-Ao&amp;utm_campaign=designshare&amp;utm_medium=link2&amp;utm_source=sharebutton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46" name="Google Shape;24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8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“Sistema de gestión de comandas – COMANDA”</a:t>
            </a:r>
            <a:endParaRPr/>
          </a:p>
        </p:txBody>
      </p:sp>
      <p:sp>
        <p:nvSpPr>
          <p:cNvPr id="248" name="Google Shape;248;p18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/>
          </a:p>
        </p:txBody>
      </p:sp>
      <p:cxnSp>
        <p:nvCxnSpPr>
          <p:cNvPr id="249" name="Google Shape;249;p1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50" name="Google Shape;25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432" y="2518738"/>
            <a:ext cx="12083136" cy="33768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55" name="Google Shape;25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9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“Sistema de gestión de comandas – COMANDA”</a:t>
            </a:r>
            <a:endParaRPr/>
          </a:p>
        </p:txBody>
      </p:sp>
      <p:sp>
        <p:nvSpPr>
          <p:cNvPr id="257" name="Google Shape;257;p19"/>
          <p:cNvSpPr txBox="1"/>
          <p:nvPr/>
        </p:nvSpPr>
        <p:spPr>
          <a:xfrm>
            <a:off x="0" y="3105834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/>
          </a:p>
        </p:txBody>
      </p:sp>
      <p:cxnSp>
        <p:nvCxnSpPr>
          <p:cNvPr id="258" name="Google Shape;258;p1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ransition spd="slow">
    <p:wipe dir="l"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63" name="Google Shape;26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0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“Sistema de gestión de comandas – COMANDA”</a:t>
            </a:r>
            <a:endParaRPr/>
          </a:p>
        </p:txBody>
      </p:sp>
      <p:sp>
        <p:nvSpPr>
          <p:cNvPr id="265" name="Google Shape;265;p20"/>
          <p:cNvSpPr txBox="1"/>
          <p:nvPr/>
        </p:nvSpPr>
        <p:spPr>
          <a:xfrm>
            <a:off x="0" y="1351679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Desarrollo backend y frontend</a:t>
            </a:r>
            <a:endParaRPr/>
          </a:p>
        </p:txBody>
      </p:sp>
      <p:cxnSp>
        <p:nvCxnSpPr>
          <p:cNvPr id="266" name="Google Shape;266;p2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7" name="Google Shape;267;p20"/>
          <p:cNvSpPr/>
          <p:nvPr/>
        </p:nvSpPr>
        <p:spPr>
          <a:xfrm>
            <a:off x="3666574" y="2348264"/>
            <a:ext cx="2332653" cy="13716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CSS</a:t>
            </a:r>
            <a:endParaRPr/>
          </a:p>
        </p:txBody>
      </p:sp>
      <p:sp>
        <p:nvSpPr>
          <p:cNvPr id="268" name="Google Shape;268;p20"/>
          <p:cNvSpPr/>
          <p:nvPr/>
        </p:nvSpPr>
        <p:spPr>
          <a:xfrm>
            <a:off x="990421" y="2356787"/>
            <a:ext cx="2332653" cy="13716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HTML</a:t>
            </a:r>
            <a:endParaRPr/>
          </a:p>
        </p:txBody>
      </p:sp>
      <p:sp>
        <p:nvSpPr>
          <p:cNvPr id="269" name="Google Shape;269;p20"/>
          <p:cNvSpPr/>
          <p:nvPr/>
        </p:nvSpPr>
        <p:spPr>
          <a:xfrm>
            <a:off x="6342727" y="2348264"/>
            <a:ext cx="2332653" cy="13716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DJANGO</a:t>
            </a:r>
            <a:endParaRPr/>
          </a:p>
        </p:txBody>
      </p:sp>
      <p:sp>
        <p:nvSpPr>
          <p:cNvPr id="270" name="Google Shape;270;p20"/>
          <p:cNvSpPr/>
          <p:nvPr/>
        </p:nvSpPr>
        <p:spPr>
          <a:xfrm>
            <a:off x="9018880" y="2348264"/>
            <a:ext cx="2332653" cy="13716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/>
          </a:p>
        </p:txBody>
      </p:sp>
      <p:sp>
        <p:nvSpPr>
          <p:cNvPr id="271" name="Google Shape;271;p20"/>
          <p:cNvSpPr/>
          <p:nvPr/>
        </p:nvSpPr>
        <p:spPr>
          <a:xfrm>
            <a:off x="3666574" y="4070118"/>
            <a:ext cx="2332653" cy="13716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JAVASCRIPT</a:t>
            </a:r>
            <a:endParaRPr/>
          </a:p>
        </p:txBody>
      </p:sp>
      <p:sp>
        <p:nvSpPr>
          <p:cNvPr id="272" name="Google Shape;272;p20"/>
          <p:cNvSpPr/>
          <p:nvPr/>
        </p:nvSpPr>
        <p:spPr>
          <a:xfrm>
            <a:off x="6342726" y="4070118"/>
            <a:ext cx="2332653" cy="13716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BOOSTRAP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77" name="Google Shape;27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1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“Sistema de gestión de comandas – COMANDA”</a:t>
            </a:r>
            <a:endParaRPr/>
          </a:p>
        </p:txBody>
      </p:sp>
      <p:sp>
        <p:nvSpPr>
          <p:cNvPr id="279" name="Google Shape;279;p21"/>
          <p:cNvSpPr txBox="1"/>
          <p:nvPr/>
        </p:nvSpPr>
        <p:spPr>
          <a:xfrm>
            <a:off x="1" y="2144781"/>
            <a:ext cx="12192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 de Datos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0" name="Google Shape;280;p21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1" name="Google Shape;281;p21"/>
          <p:cNvSpPr/>
          <p:nvPr/>
        </p:nvSpPr>
        <p:spPr>
          <a:xfrm>
            <a:off x="4813934" y="3381089"/>
            <a:ext cx="2332653" cy="13716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/>
          </a:p>
        </p:txBody>
      </p:sp>
      <p:sp>
        <p:nvSpPr>
          <p:cNvPr id="282" name="Google Shape;282;p21"/>
          <p:cNvSpPr/>
          <p:nvPr/>
        </p:nvSpPr>
        <p:spPr>
          <a:xfrm>
            <a:off x="1063741" y="3381089"/>
            <a:ext cx="2332653" cy="13716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ORACLE DATA MODELER</a:t>
            </a:r>
            <a:endParaRPr/>
          </a:p>
        </p:txBody>
      </p:sp>
      <p:sp>
        <p:nvSpPr>
          <p:cNvPr id="283" name="Google Shape;283;p21"/>
          <p:cNvSpPr/>
          <p:nvPr/>
        </p:nvSpPr>
        <p:spPr>
          <a:xfrm>
            <a:off x="8564127" y="3381089"/>
            <a:ext cx="2332653" cy="13716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CLOUDINARY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88" name="Google Shape;28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2"/>
          <p:cNvSpPr txBox="1"/>
          <p:nvPr/>
        </p:nvSpPr>
        <p:spPr>
          <a:xfrm>
            <a:off x="1" y="2707792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RESULTADO DEL PROYECTO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94" name="Google Shape;29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3"/>
          <p:cNvSpPr txBox="1"/>
          <p:nvPr/>
        </p:nvSpPr>
        <p:spPr>
          <a:xfrm>
            <a:off x="0" y="2924001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300" name="Google Shape;30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4"/>
          <p:cNvSpPr txBox="1"/>
          <p:nvPr/>
        </p:nvSpPr>
        <p:spPr>
          <a:xfrm>
            <a:off x="1" y="1360773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Obstáculos presentados durante el desarrollo</a:t>
            </a:r>
            <a:endParaRPr/>
          </a:p>
        </p:txBody>
      </p:sp>
      <p:sp>
        <p:nvSpPr>
          <p:cNvPr id="302" name="Google Shape;302;p24"/>
          <p:cNvSpPr/>
          <p:nvPr/>
        </p:nvSpPr>
        <p:spPr>
          <a:xfrm>
            <a:off x="4677747" y="3066937"/>
            <a:ext cx="2836506" cy="1455576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Base de datos</a:t>
            </a:r>
            <a:endParaRPr/>
          </a:p>
        </p:txBody>
      </p:sp>
      <p:sp>
        <p:nvSpPr>
          <p:cNvPr id="303" name="Google Shape;303;p24"/>
          <p:cNvSpPr/>
          <p:nvPr/>
        </p:nvSpPr>
        <p:spPr>
          <a:xfrm>
            <a:off x="836645" y="3066937"/>
            <a:ext cx="2836506" cy="1455576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Equipo</a:t>
            </a:r>
            <a:endParaRPr/>
          </a:p>
        </p:txBody>
      </p:sp>
      <p:sp>
        <p:nvSpPr>
          <p:cNvPr id="304" name="Google Shape;304;p24"/>
          <p:cNvSpPr/>
          <p:nvPr/>
        </p:nvSpPr>
        <p:spPr>
          <a:xfrm>
            <a:off x="8649477" y="3066937"/>
            <a:ext cx="2836506" cy="1455576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Dominio</a:t>
            </a:r>
            <a:endParaRPr/>
          </a:p>
        </p:txBody>
      </p:sp>
      <p:sp>
        <p:nvSpPr>
          <p:cNvPr id="305" name="Google Shape;305;p24"/>
          <p:cNvSpPr/>
          <p:nvPr/>
        </p:nvSpPr>
        <p:spPr>
          <a:xfrm>
            <a:off x="4677747" y="4984044"/>
            <a:ext cx="2836506" cy="1455576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Correo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310" name="Google Shape;31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5"/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 DE LA COMISIÓN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