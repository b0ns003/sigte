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oppins" charset="1" panose="00000500000000000000"/>
      <p:regular r:id="rId13"/>
    </p:embeddedFont>
    <p:embeddedFont>
      <p:font typeface="Poppins Bold" charset="1" panose="000008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5972" y="2191221"/>
            <a:ext cx="2552916" cy="466260"/>
            <a:chOff x="0" y="0"/>
            <a:chExt cx="672408" cy="1228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2408" cy="122875"/>
            </a:xfrm>
            <a:custGeom>
              <a:avLst/>
              <a:gdLst/>
              <a:ahLst/>
              <a:cxnLst/>
              <a:rect r="r" b="b" t="t" l="l"/>
              <a:pathLst>
                <a:path h="122875" w="672408">
                  <a:moveTo>
                    <a:pt x="672408" y="61438"/>
                  </a:moveTo>
                  <a:lnTo>
                    <a:pt x="672408" y="61438"/>
                  </a:lnTo>
                  <a:cubicBezTo>
                    <a:pt x="672408" y="95369"/>
                    <a:pt x="644902" y="122875"/>
                    <a:pt x="610971" y="122875"/>
                  </a:cubicBezTo>
                  <a:lnTo>
                    <a:pt x="61438" y="122875"/>
                  </a:lnTo>
                  <a:cubicBezTo>
                    <a:pt x="27507" y="122875"/>
                    <a:pt x="0" y="95369"/>
                    <a:pt x="0" y="61438"/>
                  </a:cubicBezTo>
                  <a:lnTo>
                    <a:pt x="0" y="61438"/>
                  </a:lnTo>
                  <a:cubicBezTo>
                    <a:pt x="0" y="27507"/>
                    <a:pt x="27507" y="0"/>
                    <a:pt x="61438" y="0"/>
                  </a:cubicBezTo>
                  <a:lnTo>
                    <a:pt x="610971" y="0"/>
                  </a:lnTo>
                  <a:cubicBezTo>
                    <a:pt x="644902" y="0"/>
                    <a:pt x="672408" y="27507"/>
                    <a:pt x="672408" y="61438"/>
                  </a:cubicBezTo>
                  <a:close/>
                </a:path>
              </a:pathLst>
            </a:custGeom>
            <a:solidFill>
              <a:srgbClr val="F98E3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72408" cy="160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06"/>
                </a:lnSpc>
              </a:pPr>
              <a:r>
                <a:rPr lang="en-US" sz="121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Fase I - Septiembre 2026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679884" y="0"/>
            <a:ext cx="5608116" cy="10287000"/>
            <a:chOff x="0" y="0"/>
            <a:chExt cx="1477035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7703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477035">
                  <a:moveTo>
                    <a:pt x="0" y="0"/>
                  </a:moveTo>
                  <a:lnTo>
                    <a:pt x="1477035" y="0"/>
                  </a:lnTo>
                  <a:lnTo>
                    <a:pt x="147703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0253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477035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38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21650" y="365993"/>
            <a:ext cx="8726396" cy="9442692"/>
            <a:chOff x="0" y="0"/>
            <a:chExt cx="18758447" cy="202982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758447" cy="20298212"/>
            </a:xfrm>
            <a:custGeom>
              <a:avLst/>
              <a:gdLst/>
              <a:ahLst/>
              <a:cxnLst/>
              <a:rect r="r" b="b" t="t" l="l"/>
              <a:pathLst>
                <a:path h="20298212" w="18758447">
                  <a:moveTo>
                    <a:pt x="0" y="0"/>
                  </a:moveTo>
                  <a:lnTo>
                    <a:pt x="18758447" y="0"/>
                  </a:lnTo>
                  <a:lnTo>
                    <a:pt x="18758447" y="20298212"/>
                  </a:lnTo>
                  <a:lnTo>
                    <a:pt x="0" y="20298212"/>
                  </a:lnTo>
                  <a:close/>
                </a:path>
              </a:pathLst>
            </a:custGeom>
            <a:blipFill>
              <a:blip r:embed="rId2"/>
              <a:stretch>
                <a:fillRect l="-21899" t="0" r="-21899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028700" y="365993"/>
            <a:ext cx="5301656" cy="1325414"/>
          </a:xfrm>
          <a:custGeom>
            <a:avLst/>
            <a:gdLst/>
            <a:ahLst/>
            <a:cxnLst/>
            <a:rect r="r" b="b" t="t" l="l"/>
            <a:pathLst>
              <a:path h="1325414" w="5301656">
                <a:moveTo>
                  <a:pt x="0" y="0"/>
                </a:moveTo>
                <a:lnTo>
                  <a:pt x="5301656" y="0"/>
                </a:lnTo>
                <a:lnTo>
                  <a:pt x="5301656" y="1325414"/>
                </a:lnTo>
                <a:lnTo>
                  <a:pt x="0" y="1325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87589" y="2912824"/>
            <a:ext cx="8086917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</a:pPr>
            <a:r>
              <a:rPr lang="en-US" b="true" sz="5000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Sist</a:t>
            </a:r>
            <a:r>
              <a:rPr lang="en-US" b="true" sz="5000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ema de Gestión y Trazabilidad del Servicio de Esterilización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7589" y="5508886"/>
            <a:ext cx="7049646" cy="54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5"/>
              </a:lnSpc>
            </a:pPr>
            <a:r>
              <a:rPr lang="en-US" sz="3671">
                <a:solidFill>
                  <a:srgbClr val="F98E3B"/>
                </a:solidFill>
                <a:latin typeface="Poppins"/>
                <a:ea typeface="Poppins"/>
                <a:cs typeface="Poppins"/>
                <a:sym typeface="Poppins"/>
              </a:rPr>
              <a:t>Hospital San José de Melipilla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5972" y="6931506"/>
            <a:ext cx="5595280" cy="107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26"/>
              </a:lnSpc>
            </a:pPr>
            <a:r>
              <a:rPr lang="en-US" sz="151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Presentado por: Yamilet Maureira, Alejandra Riquelme, Natalia Sánchez</a:t>
            </a:r>
          </a:p>
          <a:p>
            <a:pPr algn="l" marL="0" indent="0" lvl="0">
              <a:lnSpc>
                <a:spcPts val="2126"/>
              </a:lnSpc>
            </a:pPr>
            <a:r>
              <a:rPr lang="en-US" sz="151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Profesor: Juan Hernández</a:t>
            </a:r>
          </a:p>
          <a:p>
            <a:pPr algn="l" marL="0" indent="0" lvl="0">
              <a:lnSpc>
                <a:spcPts val="2126"/>
              </a:lnSpc>
            </a:pPr>
            <a:r>
              <a:rPr lang="en-US" sz="151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Asignatura: Capstone 001D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262727" y="-8262727"/>
            <a:ext cx="1804880" cy="18330333"/>
            <a:chOff x="0" y="0"/>
            <a:chExt cx="475359" cy="48277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5359" cy="4827742"/>
            </a:xfrm>
            <a:custGeom>
              <a:avLst/>
              <a:gdLst/>
              <a:ahLst/>
              <a:cxnLst/>
              <a:rect r="r" b="b" t="t" l="l"/>
              <a:pathLst>
                <a:path h="4827742" w="475359">
                  <a:moveTo>
                    <a:pt x="0" y="0"/>
                  </a:moveTo>
                  <a:lnTo>
                    <a:pt x="475359" y="0"/>
                  </a:lnTo>
                  <a:lnTo>
                    <a:pt x="475359" y="4827742"/>
                  </a:lnTo>
                  <a:lnTo>
                    <a:pt x="0" y="4827742"/>
                  </a:lnTo>
                  <a:close/>
                </a:path>
              </a:pathLst>
            </a:custGeom>
            <a:solidFill>
              <a:srgbClr val="2025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75359" cy="4884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7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28725" y="5545476"/>
            <a:ext cx="3619500" cy="3040944"/>
            <a:chOff x="0" y="0"/>
            <a:chExt cx="4826000" cy="40545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26000" cy="4054592"/>
            </a:xfrm>
            <a:custGeom>
              <a:avLst/>
              <a:gdLst/>
              <a:ahLst/>
              <a:cxnLst/>
              <a:rect r="r" b="b" t="t" l="l"/>
              <a:pathLst>
                <a:path h="4054592" w="4826000">
                  <a:moveTo>
                    <a:pt x="254000" y="0"/>
                  </a:moveTo>
                  <a:lnTo>
                    <a:pt x="4572000" y="0"/>
                  </a:lnTo>
                  <a:cubicBezTo>
                    <a:pt x="4712280" y="0"/>
                    <a:pt x="4826000" y="181530"/>
                    <a:pt x="4826000" y="405459"/>
                  </a:cubicBezTo>
                  <a:lnTo>
                    <a:pt x="4826000" y="3649133"/>
                  </a:lnTo>
                  <a:cubicBezTo>
                    <a:pt x="4826000" y="3873062"/>
                    <a:pt x="4712280" y="4054592"/>
                    <a:pt x="4572000" y="4054592"/>
                  </a:cubicBezTo>
                  <a:lnTo>
                    <a:pt x="254000" y="4054592"/>
                  </a:lnTo>
                  <a:cubicBezTo>
                    <a:pt x="113720" y="4054592"/>
                    <a:pt x="0" y="3873062"/>
                    <a:pt x="0" y="3649133"/>
                  </a:cubicBezTo>
                  <a:lnTo>
                    <a:pt x="0" y="405459"/>
                  </a:lnTo>
                  <a:cubicBezTo>
                    <a:pt x="0" y="18153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1A2A3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26000" cy="4092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038725" y="5545476"/>
            <a:ext cx="3619500" cy="3012722"/>
            <a:chOff x="0" y="0"/>
            <a:chExt cx="4826000" cy="40169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26000" cy="4016963"/>
            </a:xfrm>
            <a:custGeom>
              <a:avLst/>
              <a:gdLst/>
              <a:ahLst/>
              <a:cxnLst/>
              <a:rect r="r" b="b" t="t" l="l"/>
              <a:pathLst>
                <a:path h="4016963" w="4826000">
                  <a:moveTo>
                    <a:pt x="254000" y="0"/>
                  </a:moveTo>
                  <a:lnTo>
                    <a:pt x="4572000" y="0"/>
                  </a:lnTo>
                  <a:cubicBezTo>
                    <a:pt x="4712280" y="0"/>
                    <a:pt x="4826000" y="179846"/>
                    <a:pt x="4826000" y="401696"/>
                  </a:cubicBezTo>
                  <a:lnTo>
                    <a:pt x="4826000" y="3615267"/>
                  </a:lnTo>
                  <a:cubicBezTo>
                    <a:pt x="4826000" y="3837117"/>
                    <a:pt x="4712280" y="4016963"/>
                    <a:pt x="4572000" y="4016963"/>
                  </a:cubicBezTo>
                  <a:lnTo>
                    <a:pt x="254000" y="4016963"/>
                  </a:lnTo>
                  <a:cubicBezTo>
                    <a:pt x="113720" y="4016963"/>
                    <a:pt x="0" y="3837117"/>
                    <a:pt x="0" y="3615267"/>
                  </a:cubicBezTo>
                  <a:lnTo>
                    <a:pt x="0" y="401696"/>
                  </a:lnTo>
                  <a:cubicBezTo>
                    <a:pt x="0" y="179846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2D1F3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26000" cy="4055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848725" y="5545476"/>
            <a:ext cx="3619500" cy="3012722"/>
            <a:chOff x="0" y="0"/>
            <a:chExt cx="4826000" cy="40169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26000" cy="4016963"/>
            </a:xfrm>
            <a:custGeom>
              <a:avLst/>
              <a:gdLst/>
              <a:ahLst/>
              <a:cxnLst/>
              <a:rect r="r" b="b" t="t" l="l"/>
              <a:pathLst>
                <a:path h="4016963" w="4826000">
                  <a:moveTo>
                    <a:pt x="254000" y="0"/>
                  </a:moveTo>
                  <a:lnTo>
                    <a:pt x="4572000" y="0"/>
                  </a:lnTo>
                  <a:cubicBezTo>
                    <a:pt x="4712280" y="0"/>
                    <a:pt x="4826000" y="179846"/>
                    <a:pt x="4826000" y="401696"/>
                  </a:cubicBezTo>
                  <a:lnTo>
                    <a:pt x="4826000" y="3615267"/>
                  </a:lnTo>
                  <a:cubicBezTo>
                    <a:pt x="4826000" y="3837117"/>
                    <a:pt x="4712280" y="4016963"/>
                    <a:pt x="4572000" y="4016963"/>
                  </a:cubicBezTo>
                  <a:lnTo>
                    <a:pt x="254000" y="4016963"/>
                  </a:lnTo>
                  <a:cubicBezTo>
                    <a:pt x="113720" y="4016963"/>
                    <a:pt x="0" y="3837117"/>
                    <a:pt x="0" y="3615267"/>
                  </a:cubicBezTo>
                  <a:lnTo>
                    <a:pt x="0" y="401696"/>
                  </a:lnTo>
                  <a:cubicBezTo>
                    <a:pt x="0" y="179846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1F3A2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826000" cy="4055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658725" y="5545476"/>
            <a:ext cx="3619500" cy="3040944"/>
            <a:chOff x="0" y="0"/>
            <a:chExt cx="4826000" cy="40545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26000" cy="4054592"/>
            </a:xfrm>
            <a:custGeom>
              <a:avLst/>
              <a:gdLst/>
              <a:ahLst/>
              <a:cxnLst/>
              <a:rect r="r" b="b" t="t" l="l"/>
              <a:pathLst>
                <a:path h="4054592" w="4826000">
                  <a:moveTo>
                    <a:pt x="254000" y="0"/>
                  </a:moveTo>
                  <a:lnTo>
                    <a:pt x="4572000" y="0"/>
                  </a:lnTo>
                  <a:cubicBezTo>
                    <a:pt x="4712280" y="0"/>
                    <a:pt x="4826000" y="181530"/>
                    <a:pt x="4826000" y="405459"/>
                  </a:cubicBezTo>
                  <a:lnTo>
                    <a:pt x="4826000" y="3649133"/>
                  </a:lnTo>
                  <a:cubicBezTo>
                    <a:pt x="4826000" y="3873062"/>
                    <a:pt x="4712280" y="4054592"/>
                    <a:pt x="4572000" y="4054592"/>
                  </a:cubicBezTo>
                  <a:lnTo>
                    <a:pt x="254000" y="4054592"/>
                  </a:lnTo>
                  <a:cubicBezTo>
                    <a:pt x="113720" y="4054592"/>
                    <a:pt x="0" y="3873062"/>
                    <a:pt x="0" y="3649133"/>
                  </a:cubicBezTo>
                  <a:lnTo>
                    <a:pt x="0" y="405459"/>
                  </a:lnTo>
                  <a:cubicBezTo>
                    <a:pt x="0" y="18153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3A2A1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826000" cy="4092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81125" y="5713073"/>
            <a:ext cx="514350" cy="518839"/>
            <a:chOff x="0" y="0"/>
            <a:chExt cx="616782" cy="6221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6782" cy="622164"/>
            </a:xfrm>
            <a:custGeom>
              <a:avLst/>
              <a:gdLst/>
              <a:ahLst/>
              <a:cxnLst/>
              <a:rect r="r" b="b" t="t" l="l"/>
              <a:pathLst>
                <a:path h="622164" w="616782">
                  <a:moveTo>
                    <a:pt x="308391" y="0"/>
                  </a:moveTo>
                  <a:cubicBezTo>
                    <a:pt x="138071" y="0"/>
                    <a:pt x="0" y="139276"/>
                    <a:pt x="0" y="311082"/>
                  </a:cubicBezTo>
                  <a:cubicBezTo>
                    <a:pt x="0" y="482888"/>
                    <a:pt x="138071" y="622164"/>
                    <a:pt x="308391" y="622164"/>
                  </a:cubicBezTo>
                  <a:cubicBezTo>
                    <a:pt x="478710" y="622164"/>
                    <a:pt x="616782" y="482888"/>
                    <a:pt x="616782" y="311082"/>
                  </a:cubicBezTo>
                  <a:cubicBezTo>
                    <a:pt x="616782" y="139276"/>
                    <a:pt x="478710" y="0"/>
                    <a:pt x="308391" y="0"/>
                  </a:cubicBezTo>
                  <a:close/>
                </a:path>
              </a:pathLst>
            </a:custGeom>
            <a:solidFill>
              <a:srgbClr val="3A5F8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16782" cy="669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229225" y="5735976"/>
            <a:ext cx="476250" cy="518839"/>
            <a:chOff x="0" y="0"/>
            <a:chExt cx="571094" cy="6221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1094" cy="622164"/>
            </a:xfrm>
            <a:custGeom>
              <a:avLst/>
              <a:gdLst/>
              <a:ahLst/>
              <a:cxnLst/>
              <a:rect r="r" b="b" t="t" l="l"/>
              <a:pathLst>
                <a:path h="622164" w="571094">
                  <a:moveTo>
                    <a:pt x="285547" y="0"/>
                  </a:moveTo>
                  <a:cubicBezTo>
                    <a:pt x="127844" y="0"/>
                    <a:pt x="0" y="139276"/>
                    <a:pt x="0" y="311082"/>
                  </a:cubicBezTo>
                  <a:cubicBezTo>
                    <a:pt x="0" y="482888"/>
                    <a:pt x="127844" y="622164"/>
                    <a:pt x="285547" y="622164"/>
                  </a:cubicBezTo>
                  <a:cubicBezTo>
                    <a:pt x="443250" y="622164"/>
                    <a:pt x="571094" y="482888"/>
                    <a:pt x="571094" y="311082"/>
                  </a:cubicBezTo>
                  <a:cubicBezTo>
                    <a:pt x="571094" y="139276"/>
                    <a:pt x="443250" y="0"/>
                    <a:pt x="285547" y="0"/>
                  </a:cubicBezTo>
                  <a:close/>
                </a:path>
              </a:pathLst>
            </a:custGeom>
            <a:solidFill>
              <a:srgbClr val="6B4A8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571094" cy="669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039225" y="5735976"/>
            <a:ext cx="532886" cy="518839"/>
            <a:chOff x="0" y="0"/>
            <a:chExt cx="639009" cy="6221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9009" cy="622164"/>
            </a:xfrm>
            <a:custGeom>
              <a:avLst/>
              <a:gdLst/>
              <a:ahLst/>
              <a:cxnLst/>
              <a:rect r="r" b="b" t="t" l="l"/>
              <a:pathLst>
                <a:path h="622164" w="639009">
                  <a:moveTo>
                    <a:pt x="319505" y="0"/>
                  </a:moveTo>
                  <a:cubicBezTo>
                    <a:pt x="143047" y="0"/>
                    <a:pt x="0" y="139276"/>
                    <a:pt x="0" y="311082"/>
                  </a:cubicBezTo>
                  <a:cubicBezTo>
                    <a:pt x="0" y="482888"/>
                    <a:pt x="143047" y="622164"/>
                    <a:pt x="319505" y="622164"/>
                  </a:cubicBezTo>
                  <a:cubicBezTo>
                    <a:pt x="495962" y="622164"/>
                    <a:pt x="639009" y="482888"/>
                    <a:pt x="639009" y="311082"/>
                  </a:cubicBezTo>
                  <a:cubicBezTo>
                    <a:pt x="639009" y="139276"/>
                    <a:pt x="495962" y="0"/>
                    <a:pt x="319505" y="0"/>
                  </a:cubicBezTo>
                  <a:close/>
                </a:path>
              </a:pathLst>
            </a:custGeom>
            <a:solidFill>
              <a:srgbClr val="3A7A5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639009" cy="669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849225" y="5735976"/>
            <a:ext cx="533400" cy="518839"/>
            <a:chOff x="0" y="0"/>
            <a:chExt cx="639626" cy="6221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9626" cy="622164"/>
            </a:xfrm>
            <a:custGeom>
              <a:avLst/>
              <a:gdLst/>
              <a:ahLst/>
              <a:cxnLst/>
              <a:rect r="r" b="b" t="t" l="l"/>
              <a:pathLst>
                <a:path h="622164" w="639626">
                  <a:moveTo>
                    <a:pt x="319813" y="0"/>
                  </a:moveTo>
                  <a:cubicBezTo>
                    <a:pt x="143185" y="0"/>
                    <a:pt x="0" y="139276"/>
                    <a:pt x="0" y="311082"/>
                  </a:cubicBezTo>
                  <a:cubicBezTo>
                    <a:pt x="0" y="482888"/>
                    <a:pt x="143185" y="622164"/>
                    <a:pt x="319813" y="622164"/>
                  </a:cubicBezTo>
                  <a:cubicBezTo>
                    <a:pt x="496440" y="622164"/>
                    <a:pt x="639626" y="482888"/>
                    <a:pt x="639626" y="311082"/>
                  </a:cubicBezTo>
                  <a:cubicBezTo>
                    <a:pt x="639626" y="139276"/>
                    <a:pt x="496440" y="0"/>
                    <a:pt x="319813" y="0"/>
                  </a:cubicBezTo>
                  <a:close/>
                </a:path>
              </a:pathLst>
            </a:custGeom>
            <a:solidFill>
              <a:srgbClr val="8A6A3A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39626" cy="669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04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28725" y="9540875"/>
            <a:ext cx="2924175" cy="457200"/>
            <a:chOff x="0" y="0"/>
            <a:chExt cx="3898900" cy="609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898900" cy="609600"/>
            </a:xfrm>
            <a:custGeom>
              <a:avLst/>
              <a:gdLst/>
              <a:ahLst/>
              <a:cxnLst/>
              <a:rect r="r" b="b" t="t" l="l"/>
              <a:pathLst>
                <a:path h="609600" w="3898900">
                  <a:moveTo>
                    <a:pt x="3517900" y="0"/>
                  </a:moveTo>
                  <a:cubicBezTo>
                    <a:pt x="3728320" y="0"/>
                    <a:pt x="3898900" y="136464"/>
                    <a:pt x="3898900" y="304800"/>
                  </a:cubicBezTo>
                  <a:cubicBezTo>
                    <a:pt x="3898900" y="473136"/>
                    <a:pt x="3728320" y="609600"/>
                    <a:pt x="3517900" y="609600"/>
                  </a:cubicBezTo>
                  <a:lnTo>
                    <a:pt x="381000" y="609600"/>
                  </a:lnTo>
                  <a:cubicBezTo>
                    <a:pt x="170580" y="609600"/>
                    <a:pt x="0" y="473136"/>
                    <a:pt x="0" y="304800"/>
                  </a:cubicBezTo>
                  <a:cubicBezTo>
                    <a:pt x="0" y="136464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F98E3B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38989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Levantamiento de procesos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305300" y="9540875"/>
            <a:ext cx="2124075" cy="457200"/>
            <a:chOff x="0" y="0"/>
            <a:chExt cx="2832100" cy="609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832100" cy="609600"/>
            </a:xfrm>
            <a:custGeom>
              <a:avLst/>
              <a:gdLst/>
              <a:ahLst/>
              <a:cxnLst/>
              <a:rect r="r" b="b" t="t" l="l"/>
              <a:pathLst>
                <a:path h="609600" w="2832100">
                  <a:moveTo>
                    <a:pt x="2451100" y="0"/>
                  </a:moveTo>
                  <a:cubicBezTo>
                    <a:pt x="2661520" y="0"/>
                    <a:pt x="2832100" y="136464"/>
                    <a:pt x="2832100" y="304800"/>
                  </a:cubicBezTo>
                  <a:cubicBezTo>
                    <a:pt x="2832100" y="473136"/>
                    <a:pt x="2661520" y="609600"/>
                    <a:pt x="2451100" y="609600"/>
                  </a:cubicBezTo>
                  <a:lnTo>
                    <a:pt x="381000" y="609600"/>
                  </a:lnTo>
                  <a:cubicBezTo>
                    <a:pt x="170580" y="609600"/>
                    <a:pt x="0" y="473136"/>
                    <a:pt x="0" y="304800"/>
                  </a:cubicBezTo>
                  <a:cubicBezTo>
                    <a:pt x="0" y="136464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F98E3B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8321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Modelado de datos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581775" y="9540875"/>
            <a:ext cx="2219325" cy="457200"/>
            <a:chOff x="0" y="0"/>
            <a:chExt cx="2959100" cy="609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959100" cy="609600"/>
            </a:xfrm>
            <a:custGeom>
              <a:avLst/>
              <a:gdLst/>
              <a:ahLst/>
              <a:cxnLst/>
              <a:rect r="r" b="b" t="t" l="l"/>
              <a:pathLst>
                <a:path h="609600" w="2959100">
                  <a:moveTo>
                    <a:pt x="2578100" y="0"/>
                  </a:moveTo>
                  <a:cubicBezTo>
                    <a:pt x="2788520" y="0"/>
                    <a:pt x="2959100" y="136464"/>
                    <a:pt x="2959100" y="304800"/>
                  </a:cubicBezTo>
                  <a:cubicBezTo>
                    <a:pt x="2959100" y="473136"/>
                    <a:pt x="2788520" y="609600"/>
                    <a:pt x="2578100" y="609600"/>
                  </a:cubicBezTo>
                  <a:lnTo>
                    <a:pt x="381000" y="609600"/>
                  </a:lnTo>
                  <a:cubicBezTo>
                    <a:pt x="170580" y="609600"/>
                    <a:pt x="0" y="473136"/>
                    <a:pt x="0" y="304800"/>
                  </a:cubicBezTo>
                  <a:cubicBezTo>
                    <a:pt x="0" y="136464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F98E3B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9591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Desarrollo Full-Stack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953500" y="9540875"/>
            <a:ext cx="2238375" cy="457200"/>
            <a:chOff x="0" y="0"/>
            <a:chExt cx="2984500" cy="609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984500" cy="609600"/>
            </a:xfrm>
            <a:custGeom>
              <a:avLst/>
              <a:gdLst/>
              <a:ahLst/>
              <a:cxnLst/>
              <a:rect r="r" b="b" t="t" l="l"/>
              <a:pathLst>
                <a:path h="609600" w="2984500">
                  <a:moveTo>
                    <a:pt x="2603500" y="0"/>
                  </a:moveTo>
                  <a:cubicBezTo>
                    <a:pt x="2813920" y="0"/>
                    <a:pt x="2984500" y="136464"/>
                    <a:pt x="2984500" y="304800"/>
                  </a:cubicBezTo>
                  <a:cubicBezTo>
                    <a:pt x="2984500" y="473136"/>
                    <a:pt x="2813920" y="609600"/>
                    <a:pt x="2603500" y="609600"/>
                  </a:cubicBezTo>
                  <a:lnTo>
                    <a:pt x="381000" y="609600"/>
                  </a:lnTo>
                  <a:cubicBezTo>
                    <a:pt x="170580" y="609600"/>
                    <a:pt x="0" y="473136"/>
                    <a:pt x="0" y="304800"/>
                  </a:cubicBezTo>
                  <a:cubicBezTo>
                    <a:pt x="0" y="136464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F98E3B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9845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Gestión Ágil (Scrum)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3330009" y="5208926"/>
            <a:ext cx="1765866" cy="1598108"/>
          </a:xfrm>
          <a:custGeom>
            <a:avLst/>
            <a:gdLst/>
            <a:ahLst/>
            <a:cxnLst/>
            <a:rect r="r" b="b" t="t" l="l"/>
            <a:pathLst>
              <a:path h="1598108" w="1765866">
                <a:moveTo>
                  <a:pt x="0" y="0"/>
                </a:moveTo>
                <a:lnTo>
                  <a:pt x="1765866" y="0"/>
                </a:lnTo>
                <a:lnTo>
                  <a:pt x="1765866" y="1598109"/>
                </a:lnTo>
                <a:lnTo>
                  <a:pt x="0" y="1598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true" flipV="false" rot="0">
            <a:off x="7438525" y="7230908"/>
            <a:ext cx="1114925" cy="1327291"/>
          </a:xfrm>
          <a:custGeom>
            <a:avLst/>
            <a:gdLst/>
            <a:ahLst/>
            <a:cxnLst/>
            <a:rect r="r" b="b" t="t" l="l"/>
            <a:pathLst>
              <a:path h="1327291" w="1114925">
                <a:moveTo>
                  <a:pt x="1114925" y="0"/>
                </a:moveTo>
                <a:lnTo>
                  <a:pt x="0" y="0"/>
                </a:lnTo>
                <a:lnTo>
                  <a:pt x="0" y="1327291"/>
                </a:lnTo>
                <a:lnTo>
                  <a:pt x="1114925" y="1327291"/>
                </a:lnTo>
                <a:lnTo>
                  <a:pt x="111492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true" flipV="false" rot="0">
            <a:off x="10782300" y="6402585"/>
            <a:ext cx="1656644" cy="1656644"/>
          </a:xfrm>
          <a:custGeom>
            <a:avLst/>
            <a:gdLst/>
            <a:ahLst/>
            <a:cxnLst/>
            <a:rect r="r" b="b" t="t" l="l"/>
            <a:pathLst>
              <a:path h="1656644" w="1656644">
                <a:moveTo>
                  <a:pt x="1656644" y="0"/>
                </a:moveTo>
                <a:lnTo>
                  <a:pt x="0" y="0"/>
                </a:lnTo>
                <a:lnTo>
                  <a:pt x="0" y="1656645"/>
                </a:lnTo>
                <a:lnTo>
                  <a:pt x="1656644" y="1656645"/>
                </a:lnTo>
                <a:lnTo>
                  <a:pt x="165664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4805025" y="5735240"/>
            <a:ext cx="1242996" cy="1211922"/>
          </a:xfrm>
          <a:custGeom>
            <a:avLst/>
            <a:gdLst/>
            <a:ahLst/>
            <a:cxnLst/>
            <a:rect r="r" b="b" t="t" l="l"/>
            <a:pathLst>
              <a:path h="1211922" w="1242996">
                <a:moveTo>
                  <a:pt x="0" y="0"/>
                </a:moveTo>
                <a:lnTo>
                  <a:pt x="1242996" y="0"/>
                </a:lnTo>
                <a:lnTo>
                  <a:pt x="1242996" y="1211921"/>
                </a:lnTo>
                <a:lnTo>
                  <a:pt x="0" y="12119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1231783" y="2070522"/>
            <a:ext cx="13064183" cy="784042"/>
            <a:chOff x="0" y="0"/>
            <a:chExt cx="17418911" cy="1045390"/>
          </a:xfrm>
        </p:grpSpPr>
        <p:sp>
          <p:nvSpPr>
            <p:cNvPr name="TextBox 46" id="46"/>
            <p:cNvSpPr txBox="true"/>
            <p:nvPr/>
          </p:nvSpPr>
          <p:spPr>
            <a:xfrm rot="0">
              <a:off x="0" y="9525"/>
              <a:ext cx="12734022" cy="1035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612"/>
                </a:lnSpc>
              </a:pPr>
              <a:r>
                <a:rPr lang="en-US" sz="5196">
                  <a:solidFill>
                    <a:srgbClr val="222222"/>
                  </a:solidFill>
                  <a:latin typeface="Poppins"/>
                  <a:ea typeface="Poppins"/>
                  <a:cs typeface="Poppins"/>
                  <a:sym typeface="Poppins"/>
                </a:rPr>
                <a:t>¿Qué es el 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4684889" y="9525"/>
              <a:ext cx="12734022" cy="1035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612"/>
                </a:lnSpc>
              </a:pPr>
              <a:r>
                <a:rPr lang="en-US" sz="5196">
                  <a:solidFill>
                    <a:srgbClr val="F98E3B"/>
                  </a:solidFill>
                  <a:latin typeface="Poppins"/>
                  <a:ea typeface="Poppins"/>
                  <a:cs typeface="Poppins"/>
                  <a:sym typeface="Poppins"/>
                </a:rPr>
                <a:t>proyecto?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231783" y="3095584"/>
            <a:ext cx="9550517" cy="1036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6"/>
              </a:lnSpc>
            </a:pPr>
            <a:r>
              <a:rPr lang="en-US" sz="194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194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esarrollo e implementación de un sistema web centralizado para automatizar la trazabilidad y la gestión de inventario del instrumental quirúrgico.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52033" y="367516"/>
            <a:ext cx="5037257" cy="774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15"/>
              </a:lnSpc>
            </a:pPr>
            <a:r>
              <a:rPr lang="en-US" sz="5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Definición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52033" y="1113514"/>
            <a:ext cx="1307782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E4E7EC"/>
                </a:solidFill>
                <a:latin typeface="Poppins"/>
                <a:ea typeface="Poppins"/>
                <a:cs typeface="Poppins"/>
                <a:sym typeface="Poppins"/>
              </a:rPr>
              <a:t>¿Qué problema resuelve el proyecto y con qué enfoque tecnológico?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28725" y="4751091"/>
            <a:ext cx="762000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9"/>
              </a:lnSpc>
              <a:spcBef>
                <a:spcPct val="0"/>
              </a:spcBef>
            </a:pPr>
            <a:r>
              <a:rPr lang="en-US" sz="3999" strike="noStrike" u="none">
                <a:solidFill>
                  <a:srgbClr val="F98E3B"/>
                </a:solidFill>
                <a:latin typeface="Poppins"/>
                <a:ea typeface="Poppins"/>
                <a:cs typeface="Poppins"/>
                <a:sym typeface="Poppins"/>
              </a:rPr>
              <a:t>Enfoque </a:t>
            </a:r>
            <a:r>
              <a:rPr lang="en-US" sz="3999" strike="noStrike" u="none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Tecnológico (MVP)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28725" y="9112250"/>
            <a:ext cx="7620000" cy="301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8"/>
              </a:lnSpc>
            </a:pPr>
            <a:r>
              <a:rPr lang="en-US" sz="1998">
                <a:solidFill>
                  <a:srgbClr val="F98E3B"/>
                </a:solidFill>
                <a:latin typeface="Poppins"/>
                <a:ea typeface="Poppins"/>
                <a:cs typeface="Poppins"/>
                <a:sym typeface="Poppins"/>
              </a:rPr>
              <a:t>Competencias</a:t>
            </a:r>
            <a:r>
              <a:rPr lang="en-US" sz="1998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Clave del Perfil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028825" y="5755026"/>
            <a:ext cx="2819400" cy="47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3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Trazabilidad</a:t>
            </a:r>
          </a:p>
          <a:p>
            <a:pPr algn="l" marL="0" indent="0" lvl="0">
              <a:lnSpc>
                <a:spcPts val="183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por Estados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19225" y="6604163"/>
            <a:ext cx="3238500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Seguimiento en tiempo real del ciclo completo del instrumental para dar una visibilidad total del proceso, en tiempo real. 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838825" y="5725715"/>
            <a:ext cx="2819400" cy="47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3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Inventario</a:t>
            </a:r>
          </a:p>
          <a:p>
            <a:pPr algn="l" marL="0" indent="0" lvl="0">
              <a:lnSpc>
                <a:spcPts val="183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Digital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229225" y="6607240"/>
            <a:ext cx="3238500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Control centralizado de stock y disponibilidad de instrumentos disponibles, pudiendo detectar faltantes y agilizar el control fisico. 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667361" y="5777930"/>
            <a:ext cx="2819400" cy="47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3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Control de</a:t>
            </a:r>
          </a:p>
          <a:p>
            <a:pPr algn="l" marL="0" indent="0" lvl="0">
              <a:lnSpc>
                <a:spcPts val="183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Custodia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8953500" y="6604163"/>
            <a:ext cx="1828800" cy="125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Registro de responsables en cada etapa del proceso para trazar quien realiza una acción y respaldar auditorias. 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477875" y="5725715"/>
            <a:ext cx="2819400" cy="47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3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Reportes</a:t>
            </a:r>
          </a:p>
          <a:p>
            <a:pPr algn="l" marL="0" indent="0" lvl="0">
              <a:lnSpc>
                <a:spcPts val="183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 Alertas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868275" y="6588923"/>
            <a:ext cx="2019300" cy="1674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Notificaciones automáticas y dashboards de gestión como notificaciones de faltantantes o estados críticos, permitiendo apoyar decisiones y anticipar problemas.</a:t>
            </a:r>
          </a:p>
        </p:txBody>
      </p:sp>
      <p:sp>
        <p:nvSpPr>
          <p:cNvPr name="Freeform 61" id="61"/>
          <p:cNvSpPr/>
          <p:nvPr/>
        </p:nvSpPr>
        <p:spPr>
          <a:xfrm flipH="false" flipV="false" rot="0">
            <a:off x="12775695" y="239733"/>
            <a:ext cx="5301656" cy="1325414"/>
          </a:xfrm>
          <a:custGeom>
            <a:avLst/>
            <a:gdLst/>
            <a:ahLst/>
            <a:cxnLst/>
            <a:rect r="r" b="b" t="t" l="l"/>
            <a:pathLst>
              <a:path h="1325414" w="5301656">
                <a:moveTo>
                  <a:pt x="0" y="0"/>
                </a:moveTo>
                <a:lnTo>
                  <a:pt x="5301656" y="0"/>
                </a:lnTo>
                <a:lnTo>
                  <a:pt x="5301656" y="1325414"/>
                </a:lnTo>
                <a:lnTo>
                  <a:pt x="0" y="1325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0" y="1804880"/>
            <a:ext cx="18288000" cy="47625"/>
            <a:chOff x="0" y="0"/>
            <a:chExt cx="24384000" cy="635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4384000" cy="63500"/>
            </a:xfrm>
            <a:custGeom>
              <a:avLst/>
              <a:gdLst/>
              <a:ahLst/>
              <a:cxnLst/>
              <a:rect r="r" b="b" t="t" l="l"/>
              <a:pathLst>
                <a:path h="63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F98E3B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4384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0115" y="2677343"/>
            <a:ext cx="9342174" cy="7609657"/>
            <a:chOff x="0" y="0"/>
            <a:chExt cx="2460490" cy="20041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0490" cy="2004189"/>
            </a:xfrm>
            <a:custGeom>
              <a:avLst/>
              <a:gdLst/>
              <a:ahLst/>
              <a:cxnLst/>
              <a:rect r="r" b="b" t="t" l="l"/>
              <a:pathLst>
                <a:path h="2004189" w="2460490">
                  <a:moveTo>
                    <a:pt x="0" y="0"/>
                  </a:moveTo>
                  <a:lnTo>
                    <a:pt x="2460490" y="0"/>
                  </a:lnTo>
                  <a:lnTo>
                    <a:pt x="2460490" y="2004189"/>
                  </a:lnTo>
                  <a:lnTo>
                    <a:pt x="0" y="2004189"/>
                  </a:lnTo>
                  <a:close/>
                </a:path>
              </a:pathLst>
            </a:custGeom>
            <a:solidFill>
              <a:srgbClr val="F0A6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460490" cy="20613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7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8262727" y="-8262727"/>
            <a:ext cx="1804880" cy="18330333"/>
            <a:chOff x="0" y="0"/>
            <a:chExt cx="475359" cy="48277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5359" cy="4827742"/>
            </a:xfrm>
            <a:custGeom>
              <a:avLst/>
              <a:gdLst/>
              <a:ahLst/>
              <a:cxnLst/>
              <a:rect r="r" b="b" t="t" l="l"/>
              <a:pathLst>
                <a:path h="4827742" w="475359">
                  <a:moveTo>
                    <a:pt x="0" y="0"/>
                  </a:moveTo>
                  <a:lnTo>
                    <a:pt x="475359" y="0"/>
                  </a:lnTo>
                  <a:lnTo>
                    <a:pt x="475359" y="4827742"/>
                  </a:lnTo>
                  <a:lnTo>
                    <a:pt x="0" y="4827742"/>
                  </a:lnTo>
                  <a:close/>
                </a:path>
              </a:pathLst>
            </a:custGeom>
            <a:solidFill>
              <a:srgbClr val="20253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75359" cy="4884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7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775695" y="239733"/>
            <a:ext cx="5301656" cy="1325414"/>
          </a:xfrm>
          <a:custGeom>
            <a:avLst/>
            <a:gdLst/>
            <a:ahLst/>
            <a:cxnLst/>
            <a:rect r="r" b="b" t="t" l="l"/>
            <a:pathLst>
              <a:path h="1325414" w="5301656">
                <a:moveTo>
                  <a:pt x="0" y="0"/>
                </a:moveTo>
                <a:lnTo>
                  <a:pt x="5301656" y="0"/>
                </a:lnTo>
                <a:lnTo>
                  <a:pt x="5301656" y="1325414"/>
                </a:lnTo>
                <a:lnTo>
                  <a:pt x="0" y="1325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73478" y="249258"/>
            <a:ext cx="5037257" cy="774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15"/>
              </a:lnSpc>
            </a:pPr>
            <a:r>
              <a:rPr lang="en-US" sz="5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Problemática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3478" y="995256"/>
            <a:ext cx="5895269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E4E7EC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>
                <a:solidFill>
                  <a:srgbClr val="E4E7EC"/>
                </a:solidFill>
                <a:latin typeface="Poppins"/>
                <a:ea typeface="Poppins"/>
                <a:cs typeface="Poppins"/>
                <a:sym typeface="Poppins"/>
              </a:rPr>
              <a:t>l contexto operativo que origina la necesidad del sistema</a:t>
            </a:r>
          </a:p>
          <a:p>
            <a:pPr algn="l">
              <a:lnSpc>
                <a:spcPts val="2400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334702" y="2846274"/>
            <a:ext cx="8543096" cy="7271795"/>
            <a:chOff x="0" y="0"/>
            <a:chExt cx="23846876" cy="202982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846876" cy="20298212"/>
            </a:xfrm>
            <a:custGeom>
              <a:avLst/>
              <a:gdLst/>
              <a:ahLst/>
              <a:cxnLst/>
              <a:rect r="r" b="b" t="t" l="l"/>
              <a:pathLst>
                <a:path h="20298212" w="23846876">
                  <a:moveTo>
                    <a:pt x="0" y="0"/>
                  </a:moveTo>
                  <a:lnTo>
                    <a:pt x="23846876" y="0"/>
                  </a:lnTo>
                  <a:lnTo>
                    <a:pt x="23846876" y="20298212"/>
                  </a:lnTo>
                  <a:lnTo>
                    <a:pt x="0" y="20298212"/>
                  </a:lnTo>
                  <a:close/>
                </a:path>
              </a:pathLst>
            </a:custGeom>
            <a:blipFill>
              <a:blip r:embed="rId3"/>
              <a:stretch>
                <a:fillRect l="-6745" t="0" r="-6745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920111" y="2688569"/>
            <a:ext cx="76200" cy="2286000"/>
            <a:chOff x="0" y="0"/>
            <a:chExt cx="101600" cy="3048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6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98E3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16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24911" y="2821919"/>
            <a:ext cx="67437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98E3B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Contexto Clínico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24911" y="3260069"/>
            <a:ext cx="655320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El servicio de esterilización del Hospital San José de Melipilla opera con procesos mayoritariamente manuales, sin un sistema digital que permita rastrear el instrumental quirúrgico.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920111" y="5260319"/>
            <a:ext cx="76200" cy="2286000"/>
            <a:chOff x="0" y="0"/>
            <a:chExt cx="101600" cy="304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16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C0392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16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224911" y="5393669"/>
            <a:ext cx="67437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C0392B"/>
                </a:solidFill>
                <a:latin typeface="Poppins Bold"/>
                <a:ea typeface="Poppins Bold"/>
                <a:cs typeface="Poppins Bold"/>
                <a:sym typeface="Poppins Bold"/>
              </a:rPr>
              <a:t>El Dolor Actual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24911" y="5831819"/>
            <a:ext cx="655320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No existe trazabilidad automatizada del instrumental. El registro es manual, propenso a errores, y no permite visibilidad en tiempo real del estado de los equipos.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20111" y="7832069"/>
            <a:ext cx="76200" cy="2286000"/>
            <a:chOff x="0" y="0"/>
            <a:chExt cx="101600" cy="3048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16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16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224911" y="7965419"/>
            <a:ext cx="67437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Consecuencias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24911" y="8403569"/>
            <a:ext cx="655320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Riesgo de infecciones asociadas a la atención, pérdida o deterioro de instrumental, incumplimiento normativo y sobrecarga operativa del personal técnico.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0" y="1804880"/>
            <a:ext cx="18288000" cy="47625"/>
            <a:chOff x="0" y="0"/>
            <a:chExt cx="24384000" cy="63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384000" cy="63500"/>
            </a:xfrm>
            <a:custGeom>
              <a:avLst/>
              <a:gdLst/>
              <a:ahLst/>
              <a:cxnLst/>
              <a:rect r="r" b="b" t="t" l="l"/>
              <a:pathLst>
                <a:path h="63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F98E3B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4384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75695" y="239733"/>
            <a:ext cx="5301656" cy="1325414"/>
          </a:xfrm>
          <a:custGeom>
            <a:avLst/>
            <a:gdLst/>
            <a:ahLst/>
            <a:cxnLst/>
            <a:rect r="r" b="b" t="t" l="l"/>
            <a:pathLst>
              <a:path h="1325414" w="5301656">
                <a:moveTo>
                  <a:pt x="0" y="0"/>
                </a:moveTo>
                <a:lnTo>
                  <a:pt x="5301656" y="0"/>
                </a:lnTo>
                <a:lnTo>
                  <a:pt x="5301656" y="1325414"/>
                </a:lnTo>
                <a:lnTo>
                  <a:pt x="0" y="1325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905000"/>
            <a:chOff x="0" y="0"/>
            <a:chExt cx="24384000" cy="254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20253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1905000"/>
            <a:ext cx="18288000" cy="47625"/>
            <a:chOff x="0" y="0"/>
            <a:chExt cx="24384000" cy="63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63500"/>
            </a:xfrm>
            <a:custGeom>
              <a:avLst/>
              <a:gdLst/>
              <a:ahLst/>
              <a:cxnLst/>
              <a:rect r="r" b="b" t="t" l="l"/>
              <a:pathLst>
                <a:path h="63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F98E3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384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71500" y="3143250"/>
            <a:ext cx="5524500" cy="4889500"/>
            <a:chOff x="0" y="0"/>
            <a:chExt cx="7366000" cy="65193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66000" cy="6519333"/>
            </a:xfrm>
            <a:custGeom>
              <a:avLst/>
              <a:gdLst/>
              <a:ahLst/>
              <a:cxnLst/>
              <a:rect r="r" b="b" t="t" l="l"/>
              <a:pathLst>
                <a:path h="6519333" w="7366000">
                  <a:moveTo>
                    <a:pt x="736600" y="0"/>
                  </a:moveTo>
                  <a:lnTo>
                    <a:pt x="6629400" y="0"/>
                  </a:lnTo>
                  <a:cubicBezTo>
                    <a:pt x="7036213" y="0"/>
                    <a:pt x="7366000" y="217039"/>
                    <a:pt x="7366000" y="484771"/>
                  </a:cubicBezTo>
                  <a:lnTo>
                    <a:pt x="7366000" y="6034562"/>
                  </a:lnTo>
                  <a:cubicBezTo>
                    <a:pt x="7366000" y="6302294"/>
                    <a:pt x="7036213" y="6519333"/>
                    <a:pt x="6629400" y="6519333"/>
                  </a:cubicBezTo>
                  <a:lnTo>
                    <a:pt x="736600" y="6519333"/>
                  </a:lnTo>
                  <a:cubicBezTo>
                    <a:pt x="329787" y="6519333"/>
                    <a:pt x="0" y="6302294"/>
                    <a:pt x="0" y="6034562"/>
                  </a:cubicBezTo>
                  <a:lnTo>
                    <a:pt x="0" y="484771"/>
                  </a:lnTo>
                  <a:cubicBezTo>
                    <a:pt x="0" y="217039"/>
                    <a:pt x="329787" y="0"/>
                    <a:pt x="736600" y="0"/>
                  </a:cubicBezTo>
                  <a:close/>
                </a:path>
              </a:pathLst>
            </a:custGeom>
            <a:solidFill>
              <a:srgbClr val="20253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366000" cy="655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6572250" y="2422525"/>
            <a:ext cx="0" cy="7048500"/>
          </a:xfrm>
          <a:prstGeom prst="line">
            <a:avLst/>
          </a:prstGeom>
          <a:ln cap="flat" w="19050">
            <a:solidFill>
              <a:srgbClr val="E0E0E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7048500" y="2762250"/>
            <a:ext cx="10668000" cy="1143000"/>
            <a:chOff x="0" y="0"/>
            <a:chExt cx="14224000" cy="152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2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4224000">
                  <a:moveTo>
                    <a:pt x="152400" y="0"/>
                  </a:moveTo>
                  <a:lnTo>
                    <a:pt x="14071600" y="0"/>
                  </a:lnTo>
                  <a:cubicBezTo>
                    <a:pt x="14155769" y="0"/>
                    <a:pt x="14224000" y="68232"/>
                    <a:pt x="14224000" y="152400"/>
                  </a:cubicBezTo>
                  <a:lnTo>
                    <a:pt x="14224000" y="1371600"/>
                  </a:lnTo>
                  <a:cubicBezTo>
                    <a:pt x="14224000" y="1455768"/>
                    <a:pt x="14155769" y="1524000"/>
                    <a:pt x="14071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224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048500" y="2762250"/>
            <a:ext cx="57150" cy="1143000"/>
            <a:chOff x="0" y="0"/>
            <a:chExt cx="76200" cy="152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2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98E3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762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239000" y="3143250"/>
            <a:ext cx="381000" cy="381000"/>
            <a:chOff x="0" y="0"/>
            <a:chExt cx="508000" cy="508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F98E3B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048500" y="4019550"/>
            <a:ext cx="10668000" cy="1143000"/>
            <a:chOff x="0" y="0"/>
            <a:chExt cx="14224000" cy="1524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2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4224000">
                  <a:moveTo>
                    <a:pt x="152400" y="0"/>
                  </a:moveTo>
                  <a:lnTo>
                    <a:pt x="14071600" y="0"/>
                  </a:lnTo>
                  <a:cubicBezTo>
                    <a:pt x="14155769" y="0"/>
                    <a:pt x="14224000" y="68232"/>
                    <a:pt x="14224000" y="152400"/>
                  </a:cubicBezTo>
                  <a:lnTo>
                    <a:pt x="14224000" y="1371600"/>
                  </a:lnTo>
                  <a:cubicBezTo>
                    <a:pt x="14224000" y="1455768"/>
                    <a:pt x="14155769" y="1524000"/>
                    <a:pt x="14071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4224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048500" y="4019550"/>
            <a:ext cx="57150" cy="1143000"/>
            <a:chOff x="0" y="0"/>
            <a:chExt cx="76200" cy="1524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62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3498DB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762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239000" y="4400550"/>
            <a:ext cx="381000" cy="381000"/>
            <a:chOff x="0" y="0"/>
            <a:chExt cx="508000" cy="508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3498DB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048500" y="5276850"/>
            <a:ext cx="10668000" cy="1143000"/>
            <a:chOff x="0" y="0"/>
            <a:chExt cx="14224000" cy="1524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2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4224000">
                  <a:moveTo>
                    <a:pt x="152400" y="0"/>
                  </a:moveTo>
                  <a:lnTo>
                    <a:pt x="14071600" y="0"/>
                  </a:lnTo>
                  <a:cubicBezTo>
                    <a:pt x="14155769" y="0"/>
                    <a:pt x="14224000" y="68232"/>
                    <a:pt x="14224000" y="152400"/>
                  </a:cubicBezTo>
                  <a:lnTo>
                    <a:pt x="14224000" y="1371600"/>
                  </a:lnTo>
                  <a:cubicBezTo>
                    <a:pt x="14224000" y="1455768"/>
                    <a:pt x="14155769" y="1524000"/>
                    <a:pt x="14071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4224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048500" y="5276850"/>
            <a:ext cx="57150" cy="1143000"/>
            <a:chOff x="0" y="0"/>
            <a:chExt cx="76200" cy="152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62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27AE6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762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239000" y="5657850"/>
            <a:ext cx="381000" cy="381000"/>
            <a:chOff x="0" y="0"/>
            <a:chExt cx="508000" cy="508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27AE6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048500" y="6534150"/>
            <a:ext cx="10668000" cy="1143000"/>
            <a:chOff x="0" y="0"/>
            <a:chExt cx="14224000" cy="1524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2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4224000">
                  <a:moveTo>
                    <a:pt x="152400" y="0"/>
                  </a:moveTo>
                  <a:lnTo>
                    <a:pt x="14071600" y="0"/>
                  </a:lnTo>
                  <a:cubicBezTo>
                    <a:pt x="14155769" y="0"/>
                    <a:pt x="14224000" y="68232"/>
                    <a:pt x="14224000" y="152400"/>
                  </a:cubicBezTo>
                  <a:lnTo>
                    <a:pt x="14224000" y="1371600"/>
                  </a:lnTo>
                  <a:cubicBezTo>
                    <a:pt x="14224000" y="1455768"/>
                    <a:pt x="14155769" y="1524000"/>
                    <a:pt x="14071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4224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048500" y="6534150"/>
            <a:ext cx="57150" cy="1143000"/>
            <a:chOff x="0" y="0"/>
            <a:chExt cx="76200" cy="1524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62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8E44AD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762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239000" y="6915150"/>
            <a:ext cx="381000" cy="381000"/>
            <a:chOff x="0" y="0"/>
            <a:chExt cx="508000" cy="508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8E44AD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048500" y="7791450"/>
            <a:ext cx="10668000" cy="1143000"/>
            <a:chOff x="0" y="0"/>
            <a:chExt cx="14224000" cy="15240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2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4224000">
                  <a:moveTo>
                    <a:pt x="152400" y="0"/>
                  </a:moveTo>
                  <a:lnTo>
                    <a:pt x="14071600" y="0"/>
                  </a:lnTo>
                  <a:cubicBezTo>
                    <a:pt x="14155769" y="0"/>
                    <a:pt x="14224000" y="68232"/>
                    <a:pt x="14224000" y="152400"/>
                  </a:cubicBezTo>
                  <a:lnTo>
                    <a:pt x="14224000" y="1371600"/>
                  </a:lnTo>
                  <a:cubicBezTo>
                    <a:pt x="14224000" y="1455768"/>
                    <a:pt x="14155769" y="1524000"/>
                    <a:pt x="14071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4224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048500" y="7791450"/>
            <a:ext cx="57150" cy="1143000"/>
            <a:chOff x="0" y="0"/>
            <a:chExt cx="76200" cy="15240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62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C0392B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762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239000" y="8172450"/>
            <a:ext cx="381000" cy="381000"/>
            <a:chOff x="0" y="0"/>
            <a:chExt cx="508000" cy="5080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8" id="58"/>
          <p:cNvSpPr/>
          <p:nvPr/>
        </p:nvSpPr>
        <p:spPr>
          <a:xfrm flipH="false" flipV="false" rot="0">
            <a:off x="12928095" y="392133"/>
            <a:ext cx="5301656" cy="1325414"/>
          </a:xfrm>
          <a:custGeom>
            <a:avLst/>
            <a:gdLst/>
            <a:ahLst/>
            <a:cxnLst/>
            <a:rect r="r" b="b" t="t" l="l"/>
            <a:pathLst>
              <a:path h="1325414" w="5301656">
                <a:moveTo>
                  <a:pt x="0" y="0"/>
                </a:moveTo>
                <a:lnTo>
                  <a:pt x="5301656" y="0"/>
                </a:lnTo>
                <a:lnTo>
                  <a:pt x="5301656" y="1325414"/>
                </a:lnTo>
                <a:lnTo>
                  <a:pt x="0" y="1325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2193925" y="2668587"/>
            <a:ext cx="4225925" cy="4225925"/>
          </a:xfrm>
          <a:custGeom>
            <a:avLst/>
            <a:gdLst/>
            <a:ahLst/>
            <a:cxnLst/>
            <a:rect r="r" b="b" t="t" l="l"/>
            <a:pathLst>
              <a:path h="4225925" w="4225925">
                <a:moveTo>
                  <a:pt x="0" y="0"/>
                </a:moveTo>
                <a:lnTo>
                  <a:pt x="4225925" y="0"/>
                </a:lnTo>
                <a:lnTo>
                  <a:pt x="4225925" y="4225926"/>
                </a:lnTo>
                <a:lnTo>
                  <a:pt x="0" y="42259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8351299">
            <a:off x="-205556" y="5684276"/>
            <a:ext cx="4153653" cy="2346814"/>
          </a:xfrm>
          <a:custGeom>
            <a:avLst/>
            <a:gdLst/>
            <a:ahLst/>
            <a:cxnLst/>
            <a:rect r="r" b="b" t="t" l="l"/>
            <a:pathLst>
              <a:path h="2346814" w="4153653">
                <a:moveTo>
                  <a:pt x="0" y="0"/>
                </a:moveTo>
                <a:lnTo>
                  <a:pt x="4153652" y="0"/>
                </a:lnTo>
                <a:lnTo>
                  <a:pt x="4153652" y="2346813"/>
                </a:lnTo>
                <a:lnTo>
                  <a:pt x="0" y="23468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1" id="61"/>
          <p:cNvSpPr txBox="true"/>
          <p:nvPr/>
        </p:nvSpPr>
        <p:spPr>
          <a:xfrm rot="0">
            <a:off x="876300" y="238125"/>
            <a:ext cx="5715000" cy="78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9"/>
              </a:lnSpc>
            </a:pPr>
            <a:r>
              <a:rPr lang="en-US" sz="5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Objetivos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876300" y="1047750"/>
            <a:ext cx="6667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E4E7EC"/>
                </a:solidFill>
                <a:latin typeface="Poppins"/>
                <a:ea typeface="Poppins"/>
                <a:cs typeface="Poppins"/>
                <a:sym typeface="Poppins"/>
              </a:rPr>
              <a:t>Propósito general y metas específicas del proyecto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81075" y="3705225"/>
            <a:ext cx="49530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b="true" sz="1999">
                <a:solidFill>
                  <a:srgbClr val="F98E3B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 GENERAL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876300" y="4543743"/>
            <a:ext cx="4857750" cy="172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1700">
                <a:solidFill>
                  <a:srgbClr val="E4E7EC"/>
                </a:solidFill>
                <a:latin typeface="Poppins"/>
                <a:ea typeface="Poppins"/>
                <a:cs typeface="Poppins"/>
                <a:sym typeface="Poppins"/>
              </a:rPr>
              <a:t>Diseñar e implementar un sistema web centralizado que automatice la trazabilidad y gestión de inventario del instrumental quirúrgico en el servicio de esterilización del Hospital San José de Melipilla.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28700" y="6819582"/>
            <a:ext cx="4857750" cy="462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F98E3B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"Transformar procesos manuales en flujos digitales trazables"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048500" y="2362200"/>
            <a:ext cx="10668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202531"/>
                </a:solidFill>
                <a:latin typeface="Poppins"/>
                <a:ea typeface="Poppins"/>
                <a:cs typeface="Poppins"/>
                <a:sym typeface="Poppins"/>
              </a:rPr>
              <a:t>OBJETIVOS ESPECÍFICOS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7239000" y="3067050"/>
            <a:ext cx="381000" cy="45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2"/>
              </a:lnSpc>
            </a:pPr>
            <a:r>
              <a:rPr lang="en-US" sz="25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762875" y="3162300"/>
            <a:ext cx="9763125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0"/>
              </a:lnSpc>
            </a:pPr>
            <a:r>
              <a:rPr lang="en-US" sz="14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Levantar y modelar los procesos actuales de esterilización mediante entrevistas y observación directa.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239000" y="4333875"/>
            <a:ext cx="381000" cy="44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9"/>
              </a:lnSpc>
            </a:pPr>
            <a:r>
              <a:rPr lang="en-US" sz="24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7762875" y="4419600"/>
            <a:ext cx="9763125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0"/>
              </a:lnSpc>
            </a:pPr>
            <a:r>
              <a:rPr lang="en-US" sz="14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Diseñar la arquitectura del sistema web con módulos de trazabilidad, inventario y custodia.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7239000" y="5591175"/>
            <a:ext cx="381000" cy="442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8"/>
              </a:lnSpc>
            </a:pPr>
            <a:r>
              <a:rPr lang="en-US" sz="246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7762875" y="5676900"/>
            <a:ext cx="9763125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0"/>
              </a:lnSpc>
            </a:pPr>
            <a:r>
              <a:rPr lang="en-US" sz="14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Desarrollar el MVP funcional aplicando metodología Scrum en sprints de 2 semanas.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7239000" y="6858000"/>
            <a:ext cx="381000" cy="425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9"/>
              </a:lnSpc>
            </a:pPr>
            <a:r>
              <a:rPr lang="en-US" sz="23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7762875" y="6934200"/>
            <a:ext cx="9763125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0"/>
              </a:lnSpc>
            </a:pPr>
            <a:r>
              <a:rPr lang="en-US" sz="14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Implementar validaciones en tiempo real para garantizar la integridad de los datos clínicos.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7239000" y="8115300"/>
            <a:ext cx="381000" cy="425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1"/>
              </a:lnSpc>
            </a:pPr>
            <a:r>
              <a:rPr lang="en-US" sz="23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7762875" y="8191500"/>
            <a:ext cx="9763125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0"/>
              </a:lnSpc>
            </a:pPr>
            <a:r>
              <a:rPr lang="en-US" sz="14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Evaluar el sistema mediante pruebas de usabilidad y métricas de rendimiento operativo.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05000"/>
            <a:chOff x="0" y="0"/>
            <a:chExt cx="24384000" cy="254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2025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905000"/>
            <a:ext cx="18288000" cy="47625"/>
            <a:chOff x="0" y="0"/>
            <a:chExt cx="24384000" cy="63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63500"/>
            </a:xfrm>
            <a:custGeom>
              <a:avLst/>
              <a:gdLst/>
              <a:ahLst/>
              <a:cxnLst/>
              <a:rect r="r" b="b" t="t" l="l"/>
              <a:pathLst>
                <a:path h="63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F98E3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76300" y="209550"/>
            <a:ext cx="5715000" cy="72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0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Alcances del Proyecto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6300" y="1047750"/>
            <a:ext cx="6667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E4E7EC"/>
                </a:solidFill>
                <a:latin typeface="Poppins"/>
                <a:ea typeface="Poppins"/>
                <a:cs typeface="Poppins"/>
                <a:sym typeface="Poppins"/>
              </a:rPr>
              <a:t>Lo que incluye y lo que queda fuera del sistema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71500" y="2286000"/>
            <a:ext cx="8286750" cy="666750"/>
            <a:chOff x="0" y="0"/>
            <a:chExt cx="11049000" cy="88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4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11049000">
                  <a:moveTo>
                    <a:pt x="88900" y="0"/>
                  </a:moveTo>
                  <a:lnTo>
                    <a:pt x="10960100" y="0"/>
                  </a:lnTo>
                  <a:cubicBezTo>
                    <a:pt x="11009198" y="0"/>
                    <a:pt x="11049000" y="39802"/>
                    <a:pt x="11049000" y="88900"/>
                  </a:cubicBezTo>
                  <a:lnTo>
                    <a:pt x="11049000" y="800100"/>
                  </a:lnTo>
                  <a:cubicBezTo>
                    <a:pt x="11049000" y="849198"/>
                    <a:pt x="11009198" y="889000"/>
                    <a:pt x="10960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2D8A6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04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62000" y="2400300"/>
            <a:ext cx="790575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✅  SÍ INCLUYE EL SISTEMA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71500" y="3143250"/>
            <a:ext cx="8286750" cy="1428750"/>
            <a:chOff x="0" y="0"/>
            <a:chExt cx="11049000" cy="1905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49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1049000">
                  <a:moveTo>
                    <a:pt x="190500" y="0"/>
                  </a:moveTo>
                  <a:lnTo>
                    <a:pt x="10858500" y="0"/>
                  </a:lnTo>
                  <a:cubicBezTo>
                    <a:pt x="10963711" y="0"/>
                    <a:pt x="11049000" y="85290"/>
                    <a:pt x="11049000" y="190500"/>
                  </a:cubicBezTo>
                  <a:lnTo>
                    <a:pt x="11049000" y="1714500"/>
                  </a:lnTo>
                  <a:cubicBezTo>
                    <a:pt x="11049000" y="1819710"/>
                    <a:pt x="10963711" y="1905000"/>
                    <a:pt x="10858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049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71500" y="3143250"/>
            <a:ext cx="57150" cy="1428750"/>
            <a:chOff x="0" y="0"/>
            <a:chExt cx="76200" cy="1905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2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E8935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00100" y="3333750"/>
            <a:ext cx="476250" cy="476250"/>
            <a:chOff x="0" y="0"/>
            <a:chExt cx="635000" cy="635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317500" y="0"/>
                  </a:moveTo>
                  <a:cubicBezTo>
                    <a:pt x="142150" y="0"/>
                    <a:pt x="0" y="142150"/>
                    <a:pt x="0" y="317500"/>
                  </a:cubicBezTo>
                  <a:cubicBezTo>
                    <a:pt x="0" y="492850"/>
                    <a:pt x="142150" y="635000"/>
                    <a:pt x="317500" y="635000"/>
                  </a:cubicBezTo>
                  <a:cubicBezTo>
                    <a:pt x="492850" y="635000"/>
                    <a:pt x="635000" y="492850"/>
                    <a:pt x="635000" y="317500"/>
                  </a:cubicBezTo>
                  <a:cubicBezTo>
                    <a:pt x="635000" y="142150"/>
                    <a:pt x="492850" y="0"/>
                    <a:pt x="317500" y="0"/>
                  </a:cubicBezTo>
                  <a:close/>
                </a:path>
              </a:pathLst>
            </a:custGeom>
            <a:solidFill>
              <a:srgbClr val="E8935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00100" y="3381375"/>
            <a:ext cx="4762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28750" y="3276600"/>
            <a:ext cx="7239000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b="true" sz="1700">
                <a:solidFill>
                  <a:srgbClr val="202531"/>
                </a:solidFill>
                <a:latin typeface="Poppins Bold"/>
                <a:ea typeface="Poppins Bold"/>
                <a:cs typeface="Poppins Bold"/>
                <a:sym typeface="Poppins Bold"/>
              </a:rPr>
              <a:t>Trazabilidad por Estados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28750" y="3600450"/>
            <a:ext cx="7239000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Seguimiento completo del instrumental para registrar las 6 fases del ciclo: recepción, lavado, preparación, esterilización, almacenamiento y entrega.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71500" y="4743450"/>
            <a:ext cx="8286750" cy="1428750"/>
            <a:chOff x="0" y="0"/>
            <a:chExt cx="11049000" cy="1905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49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1049000">
                  <a:moveTo>
                    <a:pt x="190500" y="0"/>
                  </a:moveTo>
                  <a:lnTo>
                    <a:pt x="10858500" y="0"/>
                  </a:lnTo>
                  <a:cubicBezTo>
                    <a:pt x="10963711" y="0"/>
                    <a:pt x="11049000" y="85290"/>
                    <a:pt x="11049000" y="190500"/>
                  </a:cubicBezTo>
                  <a:lnTo>
                    <a:pt x="11049000" y="1714500"/>
                  </a:lnTo>
                  <a:cubicBezTo>
                    <a:pt x="11049000" y="1819710"/>
                    <a:pt x="10963711" y="1905000"/>
                    <a:pt x="10858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1049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71500" y="4743450"/>
            <a:ext cx="57150" cy="1428750"/>
            <a:chOff x="0" y="0"/>
            <a:chExt cx="76200" cy="1905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2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5B9BD5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00100" y="4933950"/>
            <a:ext cx="476250" cy="476250"/>
            <a:chOff x="0" y="0"/>
            <a:chExt cx="635000" cy="635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317500" y="0"/>
                  </a:moveTo>
                  <a:cubicBezTo>
                    <a:pt x="142150" y="0"/>
                    <a:pt x="0" y="142150"/>
                    <a:pt x="0" y="317500"/>
                  </a:cubicBezTo>
                  <a:cubicBezTo>
                    <a:pt x="0" y="492850"/>
                    <a:pt x="142150" y="635000"/>
                    <a:pt x="317500" y="635000"/>
                  </a:cubicBezTo>
                  <a:cubicBezTo>
                    <a:pt x="492850" y="635000"/>
                    <a:pt x="635000" y="492850"/>
                    <a:pt x="635000" y="317500"/>
                  </a:cubicBezTo>
                  <a:cubicBezTo>
                    <a:pt x="635000" y="142150"/>
                    <a:pt x="492850" y="0"/>
                    <a:pt x="317500" y="0"/>
                  </a:cubicBezTo>
                  <a:close/>
                </a:path>
              </a:pathLst>
            </a:custGeom>
            <a:solidFill>
              <a:srgbClr val="5B9BD5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800100" y="4981575"/>
            <a:ext cx="4762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28750" y="4876800"/>
            <a:ext cx="7239000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b="true" sz="1700">
                <a:solidFill>
                  <a:srgbClr val="202531"/>
                </a:solidFill>
                <a:latin typeface="Poppins Bold"/>
                <a:ea typeface="Poppins Bold"/>
                <a:cs typeface="Poppins Bold"/>
                <a:sym typeface="Poppins Bold"/>
              </a:rPr>
              <a:t>Inventario Digital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47800" y="5151120"/>
            <a:ext cx="7239000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Inv</a:t>
            </a: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entario digital por caja médica, en reemplazo del registro en papel.</a:t>
            </a:r>
          </a:p>
          <a:p>
            <a:pPr algn="l">
              <a:lnSpc>
                <a:spcPts val="2100"/>
              </a:lnSpc>
            </a:pPr>
          </a:p>
        </p:txBody>
      </p:sp>
      <p:grpSp>
        <p:nvGrpSpPr>
          <p:cNvPr name="Group 38" id="38"/>
          <p:cNvGrpSpPr/>
          <p:nvPr/>
        </p:nvGrpSpPr>
        <p:grpSpPr>
          <a:xfrm rot="0">
            <a:off x="571500" y="6343650"/>
            <a:ext cx="8286750" cy="1428750"/>
            <a:chOff x="0" y="0"/>
            <a:chExt cx="11049000" cy="1905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049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1049000">
                  <a:moveTo>
                    <a:pt x="190500" y="0"/>
                  </a:moveTo>
                  <a:lnTo>
                    <a:pt x="10858500" y="0"/>
                  </a:lnTo>
                  <a:cubicBezTo>
                    <a:pt x="10963711" y="0"/>
                    <a:pt x="11049000" y="85290"/>
                    <a:pt x="11049000" y="190500"/>
                  </a:cubicBezTo>
                  <a:lnTo>
                    <a:pt x="11049000" y="1714500"/>
                  </a:lnTo>
                  <a:cubicBezTo>
                    <a:pt x="11049000" y="1819710"/>
                    <a:pt x="10963711" y="1905000"/>
                    <a:pt x="10858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1049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71500" y="6343650"/>
            <a:ext cx="57150" cy="1428750"/>
            <a:chOff x="0" y="0"/>
            <a:chExt cx="76200" cy="1905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62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9B72B0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00100" y="6534150"/>
            <a:ext cx="476250" cy="476250"/>
            <a:chOff x="0" y="0"/>
            <a:chExt cx="635000" cy="635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317500" y="0"/>
                  </a:moveTo>
                  <a:cubicBezTo>
                    <a:pt x="142150" y="0"/>
                    <a:pt x="0" y="142150"/>
                    <a:pt x="0" y="317500"/>
                  </a:cubicBezTo>
                  <a:cubicBezTo>
                    <a:pt x="0" y="492850"/>
                    <a:pt x="142150" y="635000"/>
                    <a:pt x="317500" y="635000"/>
                  </a:cubicBezTo>
                  <a:cubicBezTo>
                    <a:pt x="492850" y="635000"/>
                    <a:pt x="635000" y="492850"/>
                    <a:pt x="635000" y="317500"/>
                  </a:cubicBezTo>
                  <a:cubicBezTo>
                    <a:pt x="635000" y="142150"/>
                    <a:pt x="492850" y="0"/>
                    <a:pt x="317500" y="0"/>
                  </a:cubicBezTo>
                  <a:close/>
                </a:path>
              </a:pathLst>
            </a:custGeom>
            <a:solidFill>
              <a:srgbClr val="9B72B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800100" y="6581775"/>
            <a:ext cx="4762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28750" y="6477000"/>
            <a:ext cx="7239000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b="true" sz="1700">
                <a:solidFill>
                  <a:srgbClr val="202531"/>
                </a:solidFill>
                <a:latin typeface="Poppins Bold"/>
                <a:ea typeface="Poppins Bold"/>
                <a:cs typeface="Poppins Bold"/>
                <a:sym typeface="Poppins Bold"/>
              </a:rPr>
              <a:t>Control de Custodia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28750" y="6748145"/>
            <a:ext cx="7239000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Asignación y transferencia de responsabilidad sobre quién entrega y quién recibe cada set de instrumental.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571500" y="7943850"/>
            <a:ext cx="8286750" cy="1428750"/>
            <a:chOff x="0" y="0"/>
            <a:chExt cx="11049000" cy="19050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049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1049000">
                  <a:moveTo>
                    <a:pt x="190500" y="0"/>
                  </a:moveTo>
                  <a:lnTo>
                    <a:pt x="10858500" y="0"/>
                  </a:lnTo>
                  <a:cubicBezTo>
                    <a:pt x="10963711" y="0"/>
                    <a:pt x="11049000" y="85290"/>
                    <a:pt x="11049000" y="190500"/>
                  </a:cubicBezTo>
                  <a:lnTo>
                    <a:pt x="11049000" y="1714500"/>
                  </a:lnTo>
                  <a:cubicBezTo>
                    <a:pt x="11049000" y="1819710"/>
                    <a:pt x="10963711" y="1905000"/>
                    <a:pt x="10858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1049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71500" y="7943850"/>
            <a:ext cx="57150" cy="1428750"/>
            <a:chOff x="0" y="0"/>
            <a:chExt cx="76200" cy="19050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62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5AAB7E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00100" y="8134350"/>
            <a:ext cx="476250" cy="476250"/>
            <a:chOff x="0" y="0"/>
            <a:chExt cx="635000" cy="635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317500" y="0"/>
                  </a:moveTo>
                  <a:cubicBezTo>
                    <a:pt x="142150" y="0"/>
                    <a:pt x="0" y="142150"/>
                    <a:pt x="0" y="317500"/>
                  </a:cubicBezTo>
                  <a:cubicBezTo>
                    <a:pt x="0" y="492850"/>
                    <a:pt x="142150" y="635000"/>
                    <a:pt x="317500" y="635000"/>
                  </a:cubicBezTo>
                  <a:cubicBezTo>
                    <a:pt x="492850" y="635000"/>
                    <a:pt x="635000" y="492850"/>
                    <a:pt x="635000" y="317500"/>
                  </a:cubicBezTo>
                  <a:cubicBezTo>
                    <a:pt x="635000" y="142150"/>
                    <a:pt x="492850" y="0"/>
                    <a:pt x="317500" y="0"/>
                  </a:cubicBezTo>
                  <a:close/>
                </a:path>
              </a:pathLst>
            </a:custGeom>
            <a:solidFill>
              <a:srgbClr val="5AAB7E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800100" y="8181975"/>
            <a:ext cx="4762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28750" y="8077200"/>
            <a:ext cx="7239000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b="true" sz="1700">
                <a:solidFill>
                  <a:srgbClr val="202531"/>
                </a:solidFill>
                <a:latin typeface="Poppins Bold"/>
                <a:ea typeface="Poppins Bold"/>
                <a:cs typeface="Poppins Bold"/>
                <a:sym typeface="Poppins Bold"/>
              </a:rPr>
              <a:t>Reportes y Alertas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28750" y="8401050"/>
            <a:ext cx="7239000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Generación automática de informes y notificaciones en tiempo real.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9429750" y="2286000"/>
            <a:ext cx="8286750" cy="666750"/>
            <a:chOff x="0" y="0"/>
            <a:chExt cx="11049000" cy="8890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04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11049000">
                  <a:moveTo>
                    <a:pt x="88900" y="0"/>
                  </a:moveTo>
                  <a:lnTo>
                    <a:pt x="10960100" y="0"/>
                  </a:lnTo>
                  <a:cubicBezTo>
                    <a:pt x="11009198" y="0"/>
                    <a:pt x="11049000" y="39802"/>
                    <a:pt x="11049000" y="88900"/>
                  </a:cubicBezTo>
                  <a:lnTo>
                    <a:pt x="11049000" y="800100"/>
                  </a:lnTo>
                  <a:cubicBezTo>
                    <a:pt x="11049000" y="849198"/>
                    <a:pt x="11009198" y="889000"/>
                    <a:pt x="10960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B85450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104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9620250" y="2400300"/>
            <a:ext cx="790575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🚫  FUERA DE ALCANCE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9429750" y="3143250"/>
            <a:ext cx="8286750" cy="1428750"/>
            <a:chOff x="0" y="0"/>
            <a:chExt cx="11049000" cy="19050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049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1049000">
                  <a:moveTo>
                    <a:pt x="190500" y="0"/>
                  </a:moveTo>
                  <a:lnTo>
                    <a:pt x="10858500" y="0"/>
                  </a:lnTo>
                  <a:cubicBezTo>
                    <a:pt x="10963711" y="0"/>
                    <a:pt x="11049000" y="85290"/>
                    <a:pt x="11049000" y="190500"/>
                  </a:cubicBezTo>
                  <a:lnTo>
                    <a:pt x="11049000" y="1714500"/>
                  </a:lnTo>
                  <a:cubicBezTo>
                    <a:pt x="11049000" y="1819710"/>
                    <a:pt x="10963711" y="1905000"/>
                    <a:pt x="10858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5F0F0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1049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429750" y="3143250"/>
            <a:ext cx="57150" cy="1428750"/>
            <a:chOff x="0" y="0"/>
            <a:chExt cx="76200" cy="19050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62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C47070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658350" y="3333750"/>
            <a:ext cx="476250" cy="476250"/>
            <a:chOff x="0" y="0"/>
            <a:chExt cx="635000" cy="6350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317500" y="0"/>
                  </a:moveTo>
                  <a:cubicBezTo>
                    <a:pt x="142150" y="0"/>
                    <a:pt x="0" y="142150"/>
                    <a:pt x="0" y="317500"/>
                  </a:cubicBezTo>
                  <a:cubicBezTo>
                    <a:pt x="0" y="492850"/>
                    <a:pt x="142150" y="635000"/>
                    <a:pt x="317500" y="635000"/>
                  </a:cubicBezTo>
                  <a:cubicBezTo>
                    <a:pt x="492850" y="635000"/>
                    <a:pt x="635000" y="492850"/>
                    <a:pt x="635000" y="317500"/>
                  </a:cubicBezTo>
                  <a:cubicBezTo>
                    <a:pt x="635000" y="142150"/>
                    <a:pt x="492850" y="0"/>
                    <a:pt x="317500" y="0"/>
                  </a:cubicBezTo>
                  <a:close/>
                </a:path>
              </a:pathLst>
            </a:custGeom>
            <a:solidFill>
              <a:srgbClr val="C47070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9658350" y="3248025"/>
            <a:ext cx="476250" cy="55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2"/>
              </a:lnSpc>
            </a:pPr>
            <a:r>
              <a:rPr lang="en-US" sz="31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✕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0287000" y="3276600"/>
            <a:ext cx="7239000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b="true" sz="1700">
                <a:solidFill>
                  <a:srgbClr val="202531"/>
                </a:solidFill>
                <a:latin typeface="Poppins Bold"/>
                <a:ea typeface="Poppins Bold"/>
                <a:cs typeface="Poppins Bold"/>
                <a:sym typeface="Poppins Bold"/>
              </a:rPr>
              <a:t>Renovación de equipos físicos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287000" y="3733800"/>
            <a:ext cx="7239000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No contempla la compra ni integración con hardware biométrico complejo.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9429750" y="4743450"/>
            <a:ext cx="8286750" cy="1428750"/>
            <a:chOff x="0" y="0"/>
            <a:chExt cx="11049000" cy="19050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049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1049000">
                  <a:moveTo>
                    <a:pt x="190500" y="0"/>
                  </a:moveTo>
                  <a:lnTo>
                    <a:pt x="10858500" y="0"/>
                  </a:lnTo>
                  <a:cubicBezTo>
                    <a:pt x="10963711" y="0"/>
                    <a:pt x="11049000" y="85290"/>
                    <a:pt x="11049000" y="190500"/>
                  </a:cubicBezTo>
                  <a:lnTo>
                    <a:pt x="11049000" y="1714500"/>
                  </a:lnTo>
                  <a:cubicBezTo>
                    <a:pt x="11049000" y="1819710"/>
                    <a:pt x="10963711" y="1905000"/>
                    <a:pt x="10858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5F0F0"/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1049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429750" y="4743450"/>
            <a:ext cx="57150" cy="1428750"/>
            <a:chOff x="0" y="0"/>
            <a:chExt cx="76200" cy="19050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62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C47070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658350" y="4933950"/>
            <a:ext cx="476250" cy="476250"/>
            <a:chOff x="0" y="0"/>
            <a:chExt cx="635000" cy="6350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317500" y="0"/>
                  </a:moveTo>
                  <a:cubicBezTo>
                    <a:pt x="142150" y="0"/>
                    <a:pt x="0" y="142150"/>
                    <a:pt x="0" y="317500"/>
                  </a:cubicBezTo>
                  <a:cubicBezTo>
                    <a:pt x="0" y="492850"/>
                    <a:pt x="142150" y="635000"/>
                    <a:pt x="317500" y="635000"/>
                  </a:cubicBezTo>
                  <a:cubicBezTo>
                    <a:pt x="492850" y="635000"/>
                    <a:pt x="635000" y="492850"/>
                    <a:pt x="635000" y="317500"/>
                  </a:cubicBezTo>
                  <a:cubicBezTo>
                    <a:pt x="635000" y="142150"/>
                    <a:pt x="492850" y="0"/>
                    <a:pt x="317500" y="0"/>
                  </a:cubicBezTo>
                  <a:close/>
                </a:path>
              </a:pathLst>
            </a:custGeom>
            <a:solidFill>
              <a:srgbClr val="C47070"/>
            </a:solid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9658350" y="4848225"/>
            <a:ext cx="476250" cy="55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2"/>
              </a:lnSpc>
            </a:pPr>
            <a:r>
              <a:rPr lang="en-US" sz="31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✕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0287000" y="4876800"/>
            <a:ext cx="7239000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b="true" sz="1700">
                <a:solidFill>
                  <a:srgbClr val="202531"/>
                </a:solidFill>
                <a:latin typeface="Poppins Bold"/>
                <a:ea typeface="Poppins Bold"/>
                <a:cs typeface="Poppins Bold"/>
                <a:sym typeface="Poppins Bold"/>
              </a:rPr>
              <a:t>Remodelación de infraestructura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0287000" y="5200650"/>
            <a:ext cx="7239000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No incluye obras civiles ni modificaciones al espacio físico del servicio de esterilización.</a:t>
            </a:r>
          </a:p>
        </p:txBody>
      </p:sp>
      <p:grpSp>
        <p:nvGrpSpPr>
          <p:cNvPr name="Group 90" id="90"/>
          <p:cNvGrpSpPr/>
          <p:nvPr/>
        </p:nvGrpSpPr>
        <p:grpSpPr>
          <a:xfrm rot="0">
            <a:off x="9429750" y="6343650"/>
            <a:ext cx="8286750" cy="1428750"/>
            <a:chOff x="0" y="0"/>
            <a:chExt cx="11049000" cy="19050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1049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1049000">
                  <a:moveTo>
                    <a:pt x="190500" y="0"/>
                  </a:moveTo>
                  <a:lnTo>
                    <a:pt x="10858500" y="0"/>
                  </a:lnTo>
                  <a:cubicBezTo>
                    <a:pt x="10963711" y="0"/>
                    <a:pt x="11049000" y="85290"/>
                    <a:pt x="11049000" y="190500"/>
                  </a:cubicBezTo>
                  <a:lnTo>
                    <a:pt x="11049000" y="1714500"/>
                  </a:lnTo>
                  <a:cubicBezTo>
                    <a:pt x="11049000" y="1819710"/>
                    <a:pt x="10963711" y="1905000"/>
                    <a:pt x="10858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5F0F0"/>
            </a:solid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11049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429750" y="6343650"/>
            <a:ext cx="57150" cy="1428750"/>
            <a:chOff x="0" y="0"/>
            <a:chExt cx="76200" cy="19050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62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C47070"/>
            </a:solid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658350" y="6534150"/>
            <a:ext cx="476250" cy="476250"/>
            <a:chOff x="0" y="0"/>
            <a:chExt cx="635000" cy="6350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317500" y="0"/>
                  </a:moveTo>
                  <a:cubicBezTo>
                    <a:pt x="142150" y="0"/>
                    <a:pt x="0" y="142150"/>
                    <a:pt x="0" y="317500"/>
                  </a:cubicBezTo>
                  <a:cubicBezTo>
                    <a:pt x="0" y="492850"/>
                    <a:pt x="142150" y="635000"/>
                    <a:pt x="317500" y="635000"/>
                  </a:cubicBezTo>
                  <a:cubicBezTo>
                    <a:pt x="492850" y="635000"/>
                    <a:pt x="635000" y="492850"/>
                    <a:pt x="635000" y="317500"/>
                  </a:cubicBezTo>
                  <a:cubicBezTo>
                    <a:pt x="635000" y="142150"/>
                    <a:pt x="492850" y="0"/>
                    <a:pt x="317500" y="0"/>
                  </a:cubicBezTo>
                  <a:close/>
                </a:path>
              </a:pathLst>
            </a:custGeom>
            <a:solidFill>
              <a:srgbClr val="C47070"/>
            </a:solid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9" id="99"/>
          <p:cNvSpPr txBox="true"/>
          <p:nvPr/>
        </p:nvSpPr>
        <p:spPr>
          <a:xfrm rot="0">
            <a:off x="9658350" y="6448425"/>
            <a:ext cx="476250" cy="55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2"/>
              </a:lnSpc>
            </a:pPr>
            <a:r>
              <a:rPr lang="en-US" sz="31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✕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0287000" y="6477000"/>
            <a:ext cx="7239000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202531"/>
                </a:solidFill>
                <a:latin typeface="Poppins Bold"/>
                <a:ea typeface="Poppins Bold"/>
                <a:cs typeface="Poppins Bold"/>
                <a:sym typeface="Poppins Bold"/>
              </a:rPr>
              <a:t>Trazabilidad Externa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0287000" y="6833017"/>
            <a:ext cx="7239000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No abarca como se distribuye de manera externa el material quirurgico. </a:t>
            </a:r>
          </a:p>
        </p:txBody>
      </p:sp>
      <p:sp>
        <p:nvSpPr>
          <p:cNvPr name="AutoShape 102" id="102"/>
          <p:cNvSpPr/>
          <p:nvPr/>
        </p:nvSpPr>
        <p:spPr>
          <a:xfrm>
            <a:off x="9144000" y="2476500"/>
            <a:ext cx="0" cy="6896100"/>
          </a:xfrm>
          <a:prstGeom prst="line">
            <a:avLst/>
          </a:prstGeom>
          <a:ln cap="flat" w="19050">
            <a:solidFill>
              <a:srgbClr val="E0E0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3" id="103"/>
          <p:cNvSpPr txBox="true"/>
          <p:nvPr/>
        </p:nvSpPr>
        <p:spPr>
          <a:xfrm rot="0">
            <a:off x="9486900" y="8103235"/>
            <a:ext cx="8229600" cy="69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*El MVP prioriza el núcleo funcional de trazabilidad para asegurar su cumplimiento dentro de las 18 semanas del semestre.</a:t>
            </a:r>
          </a:p>
          <a:p>
            <a:pPr algn="l">
              <a:lnSpc>
                <a:spcPts val="181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521316" cy="10287000"/>
            <a:chOff x="0" y="0"/>
            <a:chExt cx="119079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9079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190799">
                  <a:moveTo>
                    <a:pt x="0" y="0"/>
                  </a:moveTo>
                  <a:lnTo>
                    <a:pt x="1190799" y="0"/>
                  </a:lnTo>
                  <a:lnTo>
                    <a:pt x="119079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98E3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190799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3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65029" y="595023"/>
            <a:ext cx="6054493" cy="774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12"/>
              </a:lnSpc>
            </a:pPr>
            <a:r>
              <a:rPr lang="en-US" sz="5196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Hitos 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5029" y="1379121"/>
            <a:ext cx="6054493" cy="774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12"/>
              </a:lnSpc>
            </a:pPr>
            <a:r>
              <a:rPr lang="en-US" b="true" sz="519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Proyecto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928095" y="392133"/>
            <a:ext cx="5301656" cy="1325414"/>
          </a:xfrm>
          <a:custGeom>
            <a:avLst/>
            <a:gdLst/>
            <a:ahLst/>
            <a:cxnLst/>
            <a:rect r="r" b="b" t="t" l="l"/>
            <a:pathLst>
              <a:path h="1325414" w="5301656">
                <a:moveTo>
                  <a:pt x="0" y="0"/>
                </a:moveTo>
                <a:lnTo>
                  <a:pt x="5301656" y="0"/>
                </a:lnTo>
                <a:lnTo>
                  <a:pt x="5301656" y="1325414"/>
                </a:lnTo>
                <a:lnTo>
                  <a:pt x="0" y="1325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57246" y="2671656"/>
            <a:ext cx="3806825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Planificación de 18 semanas bajo el marco ágil </a:t>
            </a:r>
            <a:r>
              <a:rPr lang="en-US" sz="2000" b="true">
                <a:solidFill>
                  <a:srgbClr val="555555"/>
                </a:solidFill>
                <a:latin typeface="Poppins Bold"/>
                <a:ea typeface="Poppins Bold"/>
                <a:cs typeface="Poppins Bold"/>
                <a:sym typeface="Poppins Bold"/>
              </a:rPr>
              <a:t>Scrum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7246" y="8824207"/>
            <a:ext cx="3810000" cy="111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* </a:t>
            </a: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Sprints iterativos e incrementales, con roles distribuidos: </a:t>
            </a:r>
            <a:r>
              <a:rPr lang="en-US" b="true" sz="1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Owner, Scrum Master</a:t>
            </a: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b="true" sz="1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Development Team</a:t>
            </a:r>
          </a:p>
        </p:txBody>
      </p:sp>
      <p:sp>
        <p:nvSpPr>
          <p:cNvPr name="AutoShape 10" id="10"/>
          <p:cNvSpPr/>
          <p:nvPr/>
        </p:nvSpPr>
        <p:spPr>
          <a:xfrm>
            <a:off x="6915150" y="2714625"/>
            <a:ext cx="8820150" cy="0"/>
          </a:xfrm>
          <a:prstGeom prst="line">
            <a:avLst/>
          </a:prstGeom>
          <a:ln cap="flat" w="28575">
            <a:solidFill>
              <a:srgbClr val="E0E0E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4857750" y="2762250"/>
            <a:ext cx="4124325" cy="3764139"/>
            <a:chOff x="0" y="0"/>
            <a:chExt cx="5499100" cy="50188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99100" cy="5018852"/>
            </a:xfrm>
            <a:custGeom>
              <a:avLst/>
              <a:gdLst/>
              <a:ahLst/>
              <a:cxnLst/>
              <a:rect r="r" b="b" t="t" l="l"/>
              <a:pathLst>
                <a:path h="5018852" w="5499100">
                  <a:moveTo>
                    <a:pt x="549910" y="0"/>
                  </a:moveTo>
                  <a:lnTo>
                    <a:pt x="4949190" y="0"/>
                  </a:lnTo>
                  <a:cubicBezTo>
                    <a:pt x="5252897" y="0"/>
                    <a:pt x="5499100" y="133282"/>
                    <a:pt x="5499100" y="297694"/>
                  </a:cubicBezTo>
                  <a:lnTo>
                    <a:pt x="5499100" y="4721158"/>
                  </a:lnTo>
                  <a:cubicBezTo>
                    <a:pt x="5499100" y="4885570"/>
                    <a:pt x="5252897" y="5018852"/>
                    <a:pt x="4949190" y="5018852"/>
                  </a:cubicBezTo>
                  <a:lnTo>
                    <a:pt x="549910" y="5018852"/>
                  </a:lnTo>
                  <a:cubicBezTo>
                    <a:pt x="246203" y="5018852"/>
                    <a:pt x="0" y="4885570"/>
                    <a:pt x="0" y="4721158"/>
                  </a:cubicBezTo>
                  <a:lnTo>
                    <a:pt x="0" y="297694"/>
                  </a:lnTo>
                  <a:cubicBezTo>
                    <a:pt x="0" y="133282"/>
                    <a:pt x="246203" y="0"/>
                    <a:pt x="549910" y="0"/>
                  </a:cubicBezTo>
                  <a:close/>
                </a:path>
              </a:pathLst>
            </a:custGeom>
            <a:solidFill>
              <a:srgbClr val="FAF6F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499100" cy="5056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81775" y="2381250"/>
            <a:ext cx="666750" cy="666750"/>
            <a:chOff x="0" y="0"/>
            <a:chExt cx="889000" cy="889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444500" y="0"/>
                  </a:moveTo>
                  <a:cubicBezTo>
                    <a:pt x="199009" y="0"/>
                    <a:pt x="0" y="199009"/>
                    <a:pt x="0" y="444500"/>
                  </a:cubicBezTo>
                  <a:cubicBezTo>
                    <a:pt x="0" y="689991"/>
                    <a:pt x="199009" y="889000"/>
                    <a:pt x="444500" y="889000"/>
                  </a:cubicBezTo>
                  <a:cubicBezTo>
                    <a:pt x="689991" y="889000"/>
                    <a:pt x="889000" y="689991"/>
                    <a:pt x="889000" y="444500"/>
                  </a:cubicBezTo>
                  <a:cubicBezTo>
                    <a:pt x="889000" y="199009"/>
                    <a:pt x="689991" y="0"/>
                    <a:pt x="444500" y="0"/>
                  </a:cubicBezTo>
                  <a:close/>
                </a:path>
              </a:pathLst>
            </a:custGeom>
            <a:solidFill>
              <a:srgbClr val="F98E3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581775" y="2486025"/>
            <a:ext cx="666750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991100" y="3228975"/>
            <a:ext cx="3838575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98E3B"/>
                </a:solidFill>
                <a:latin typeface="Poppins"/>
                <a:ea typeface="Poppins"/>
                <a:cs typeface="Poppins"/>
                <a:sym typeface="Poppins"/>
              </a:rPr>
              <a:t>SEMANA 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038725" y="3467100"/>
            <a:ext cx="374332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202531"/>
                </a:solidFill>
                <a:latin typeface="Poppins Bold"/>
                <a:ea typeface="Poppins Bold"/>
                <a:cs typeface="Poppins Bold"/>
                <a:sym typeface="Poppins Bold"/>
              </a:rPr>
              <a:t>Definición del Proyecto</a:t>
            </a:r>
          </a:p>
        </p:txBody>
      </p:sp>
      <p:sp>
        <p:nvSpPr>
          <p:cNvPr name="AutoShape 20" id="20"/>
          <p:cNvSpPr/>
          <p:nvPr/>
        </p:nvSpPr>
        <p:spPr>
          <a:xfrm>
            <a:off x="5143500" y="3905250"/>
            <a:ext cx="3552825" cy="0"/>
          </a:xfrm>
          <a:prstGeom prst="line">
            <a:avLst/>
          </a:prstGeom>
          <a:ln cap="flat" w="19050">
            <a:solidFill>
              <a:srgbClr val="F98E3B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5095875" y="3971925"/>
            <a:ext cx="3648075" cy="206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Descripción proyecto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Fundamentación del proyecto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Objetivos 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* Metodología 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Evidencias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* Plan de trabajo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* Cronograma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67825" y="2762250"/>
            <a:ext cx="4124325" cy="3764139"/>
            <a:chOff x="0" y="0"/>
            <a:chExt cx="5499100" cy="50188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99100" cy="5018852"/>
            </a:xfrm>
            <a:custGeom>
              <a:avLst/>
              <a:gdLst/>
              <a:ahLst/>
              <a:cxnLst/>
              <a:rect r="r" b="b" t="t" l="l"/>
              <a:pathLst>
                <a:path h="5018852" w="5499100">
                  <a:moveTo>
                    <a:pt x="549910" y="0"/>
                  </a:moveTo>
                  <a:lnTo>
                    <a:pt x="4949190" y="0"/>
                  </a:lnTo>
                  <a:cubicBezTo>
                    <a:pt x="5252897" y="0"/>
                    <a:pt x="5499100" y="133282"/>
                    <a:pt x="5499100" y="297694"/>
                  </a:cubicBezTo>
                  <a:lnTo>
                    <a:pt x="5499100" y="4721158"/>
                  </a:lnTo>
                  <a:cubicBezTo>
                    <a:pt x="5499100" y="4885570"/>
                    <a:pt x="5252897" y="5018852"/>
                    <a:pt x="4949190" y="5018852"/>
                  </a:cubicBezTo>
                  <a:lnTo>
                    <a:pt x="549910" y="5018852"/>
                  </a:lnTo>
                  <a:cubicBezTo>
                    <a:pt x="246203" y="5018852"/>
                    <a:pt x="0" y="4885570"/>
                    <a:pt x="0" y="4721158"/>
                  </a:cubicBezTo>
                  <a:lnTo>
                    <a:pt x="0" y="297694"/>
                  </a:lnTo>
                  <a:cubicBezTo>
                    <a:pt x="0" y="133282"/>
                    <a:pt x="246203" y="0"/>
                    <a:pt x="549910" y="0"/>
                  </a:cubicBezTo>
                  <a:close/>
                </a:path>
              </a:pathLst>
            </a:custGeom>
            <a:solidFill>
              <a:srgbClr val="FAF6F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499100" cy="5056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991850" y="2381250"/>
            <a:ext cx="666750" cy="666750"/>
            <a:chOff x="0" y="0"/>
            <a:chExt cx="889000" cy="889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444500" y="0"/>
                  </a:moveTo>
                  <a:cubicBezTo>
                    <a:pt x="199009" y="0"/>
                    <a:pt x="0" y="199009"/>
                    <a:pt x="0" y="444500"/>
                  </a:cubicBezTo>
                  <a:cubicBezTo>
                    <a:pt x="0" y="689991"/>
                    <a:pt x="199009" y="889000"/>
                    <a:pt x="444500" y="889000"/>
                  </a:cubicBezTo>
                  <a:cubicBezTo>
                    <a:pt x="689991" y="889000"/>
                    <a:pt x="889000" y="689991"/>
                    <a:pt x="889000" y="444500"/>
                  </a:cubicBezTo>
                  <a:cubicBezTo>
                    <a:pt x="889000" y="199009"/>
                    <a:pt x="689991" y="0"/>
                    <a:pt x="444500" y="0"/>
                  </a:cubicBezTo>
                  <a:close/>
                </a:path>
              </a:pathLst>
            </a:custGeom>
            <a:solidFill>
              <a:srgbClr val="F98E3B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991850" y="2486025"/>
            <a:ext cx="666750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401175" y="3228975"/>
            <a:ext cx="3838575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98E3B"/>
                </a:solidFill>
                <a:latin typeface="Poppins"/>
                <a:ea typeface="Poppins"/>
                <a:cs typeface="Poppins"/>
                <a:sym typeface="Poppins"/>
              </a:rPr>
              <a:t>SEMANA 14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48800" y="3467100"/>
            <a:ext cx="374332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202531"/>
                </a:solidFill>
                <a:latin typeface="Poppins Bold"/>
                <a:ea typeface="Poppins Bold"/>
                <a:cs typeface="Poppins Bold"/>
                <a:sym typeface="Poppins Bold"/>
              </a:rPr>
              <a:t>Sistema Funcional</a:t>
            </a:r>
          </a:p>
        </p:txBody>
      </p:sp>
      <p:sp>
        <p:nvSpPr>
          <p:cNvPr name="AutoShape 31" id="31"/>
          <p:cNvSpPr/>
          <p:nvPr/>
        </p:nvSpPr>
        <p:spPr>
          <a:xfrm>
            <a:off x="9553575" y="3905250"/>
            <a:ext cx="3552825" cy="0"/>
          </a:xfrm>
          <a:prstGeom prst="line">
            <a:avLst/>
          </a:prstGeom>
          <a:ln cap="flat" w="19050">
            <a:solidFill>
              <a:srgbClr val="F98E3B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9505950" y="3971925"/>
            <a:ext cx="3648075" cy="176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Modelo de datos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* Arquitectura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* Control de custodia completo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Transferencia de responsabilidad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Reportes automáticos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Alertas y notificaciones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3677900" y="2762250"/>
            <a:ext cx="4124325" cy="3707694"/>
            <a:chOff x="0" y="0"/>
            <a:chExt cx="5499100" cy="494359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99100" cy="4943592"/>
            </a:xfrm>
            <a:custGeom>
              <a:avLst/>
              <a:gdLst/>
              <a:ahLst/>
              <a:cxnLst/>
              <a:rect r="r" b="b" t="t" l="l"/>
              <a:pathLst>
                <a:path h="4943592" w="5499100">
                  <a:moveTo>
                    <a:pt x="549910" y="0"/>
                  </a:moveTo>
                  <a:lnTo>
                    <a:pt x="4949190" y="0"/>
                  </a:lnTo>
                  <a:cubicBezTo>
                    <a:pt x="5252897" y="0"/>
                    <a:pt x="5499100" y="131283"/>
                    <a:pt x="5499100" y="293230"/>
                  </a:cubicBezTo>
                  <a:lnTo>
                    <a:pt x="5499100" y="4650363"/>
                  </a:lnTo>
                  <a:cubicBezTo>
                    <a:pt x="5499100" y="4812309"/>
                    <a:pt x="5252897" y="4943592"/>
                    <a:pt x="4949190" y="4943592"/>
                  </a:cubicBezTo>
                  <a:lnTo>
                    <a:pt x="549910" y="4943592"/>
                  </a:lnTo>
                  <a:cubicBezTo>
                    <a:pt x="246203" y="4943592"/>
                    <a:pt x="0" y="4812309"/>
                    <a:pt x="0" y="4650363"/>
                  </a:cubicBezTo>
                  <a:lnTo>
                    <a:pt x="0" y="293230"/>
                  </a:lnTo>
                  <a:cubicBezTo>
                    <a:pt x="0" y="131283"/>
                    <a:pt x="246203" y="0"/>
                    <a:pt x="549910" y="0"/>
                  </a:cubicBezTo>
                  <a:close/>
                </a:path>
              </a:pathLst>
            </a:custGeom>
            <a:solidFill>
              <a:srgbClr val="FAF6F2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5499100" cy="4981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401925" y="2381250"/>
            <a:ext cx="666750" cy="666750"/>
            <a:chOff x="0" y="0"/>
            <a:chExt cx="889000" cy="889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444500" y="0"/>
                  </a:moveTo>
                  <a:cubicBezTo>
                    <a:pt x="199009" y="0"/>
                    <a:pt x="0" y="199009"/>
                    <a:pt x="0" y="444500"/>
                  </a:cubicBezTo>
                  <a:cubicBezTo>
                    <a:pt x="0" y="689991"/>
                    <a:pt x="199009" y="889000"/>
                    <a:pt x="444500" y="889000"/>
                  </a:cubicBezTo>
                  <a:cubicBezTo>
                    <a:pt x="689991" y="889000"/>
                    <a:pt x="889000" y="689991"/>
                    <a:pt x="889000" y="444500"/>
                  </a:cubicBezTo>
                  <a:cubicBezTo>
                    <a:pt x="889000" y="199009"/>
                    <a:pt x="689991" y="0"/>
                    <a:pt x="444500" y="0"/>
                  </a:cubicBezTo>
                  <a:close/>
                </a:path>
              </a:pathLst>
            </a:custGeom>
            <a:solidFill>
              <a:srgbClr val="F98E3B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5401925" y="2486025"/>
            <a:ext cx="666750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811250" y="3228975"/>
            <a:ext cx="3838575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98E3B"/>
                </a:solidFill>
                <a:latin typeface="Poppins"/>
                <a:ea typeface="Poppins"/>
                <a:cs typeface="Poppins"/>
                <a:sym typeface="Poppins"/>
              </a:rPr>
              <a:t>SEMANA 18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858875" y="3467100"/>
            <a:ext cx="374332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202531"/>
                </a:solidFill>
                <a:latin typeface="Poppins Bold"/>
                <a:ea typeface="Poppins Bold"/>
                <a:cs typeface="Poppins Bold"/>
                <a:sym typeface="Poppins Bold"/>
              </a:rPr>
              <a:t>Cierre y Defensa</a:t>
            </a:r>
          </a:p>
        </p:txBody>
      </p:sp>
      <p:sp>
        <p:nvSpPr>
          <p:cNvPr name="AutoShape 42" id="42"/>
          <p:cNvSpPr/>
          <p:nvPr/>
        </p:nvSpPr>
        <p:spPr>
          <a:xfrm>
            <a:off x="13963650" y="3905250"/>
            <a:ext cx="3552825" cy="0"/>
          </a:xfrm>
          <a:prstGeom prst="line">
            <a:avLst/>
          </a:prstGeom>
          <a:ln cap="flat" w="19050">
            <a:solidFill>
              <a:srgbClr val="F98E3B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3" id="43"/>
          <p:cNvSpPr txBox="true"/>
          <p:nvPr/>
        </p:nvSpPr>
        <p:spPr>
          <a:xfrm rot="0">
            <a:off x="13916025" y="3971925"/>
            <a:ext cx="3648075" cy="147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Sistema desplegado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Documentación completa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Manuales técnicos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Lecciones aprendidas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* Defensa ante la comisión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30778" y="0"/>
            <a:ext cx="4521316" cy="10287000"/>
            <a:chOff x="0" y="0"/>
            <a:chExt cx="119079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9079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190799">
                  <a:moveTo>
                    <a:pt x="0" y="0"/>
                  </a:moveTo>
                  <a:lnTo>
                    <a:pt x="1190799" y="0"/>
                  </a:lnTo>
                  <a:lnTo>
                    <a:pt x="119079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A2A3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190799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3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6311516" cy="8229600"/>
            <a:chOff x="0" y="0"/>
            <a:chExt cx="15567280" cy="202982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67279" cy="20298212"/>
            </a:xfrm>
            <a:custGeom>
              <a:avLst/>
              <a:gdLst/>
              <a:ahLst/>
              <a:cxnLst/>
              <a:rect r="r" b="b" t="t" l="l"/>
              <a:pathLst>
                <a:path h="20298212" w="15567279">
                  <a:moveTo>
                    <a:pt x="0" y="0"/>
                  </a:moveTo>
                  <a:lnTo>
                    <a:pt x="15567279" y="0"/>
                  </a:lnTo>
                  <a:lnTo>
                    <a:pt x="15567279" y="20298212"/>
                  </a:lnTo>
                  <a:lnTo>
                    <a:pt x="0" y="20298212"/>
                  </a:lnTo>
                  <a:close/>
                </a:path>
              </a:pathLst>
            </a:custGeom>
            <a:blipFill>
              <a:blip r:embed="rId2"/>
              <a:stretch>
                <a:fillRect l="-74181" t="0" r="-74181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7708783" y="3419112"/>
            <a:ext cx="9550517" cy="677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18"/>
              </a:lnSpc>
            </a:pPr>
            <a:r>
              <a:rPr lang="en-US" b="true" sz="4461">
                <a:solidFill>
                  <a:srgbClr val="1A2A3A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05725" y="5181600"/>
            <a:ext cx="955357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98E3B"/>
                </a:solidFill>
                <a:latin typeface="Poppins"/>
                <a:ea typeface="Poppins"/>
                <a:cs typeface="Poppins"/>
                <a:sym typeface="Poppins"/>
              </a:rPr>
              <a:t>Transformación Digital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05725" y="5591175"/>
            <a:ext cx="9553575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1A2A3A"/>
                </a:solidFill>
                <a:latin typeface="Poppins"/>
                <a:ea typeface="Poppins"/>
                <a:cs typeface="Poppins"/>
                <a:sym typeface="Poppins"/>
              </a:rPr>
              <a:t>Sistema digital de trazabilidad que reemplaza registros manuales, reduce errores humanos.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05725" y="6200775"/>
            <a:ext cx="955357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98E3B"/>
                </a:solidFill>
                <a:latin typeface="Poppins"/>
                <a:ea typeface="Poppins"/>
                <a:cs typeface="Poppins"/>
                <a:sym typeface="Poppins"/>
              </a:rPr>
              <a:t>Entrega Ágil en 18 Semanas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05725" y="6477000"/>
            <a:ext cx="9553575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1A2A3A"/>
                </a:solidFill>
                <a:latin typeface="Poppins"/>
                <a:ea typeface="Poppins"/>
                <a:cs typeface="Poppins"/>
                <a:sym typeface="Poppins"/>
              </a:rPr>
              <a:t>MVP funcional bajo Scrum que cubre el ciclo completo: recepción, lavado, preparación, esterilización, almacenamiento y entrega.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05725" y="7219950"/>
            <a:ext cx="955357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98E3B"/>
                </a:solidFill>
                <a:latin typeface="Poppins"/>
                <a:ea typeface="Poppins"/>
                <a:cs typeface="Poppins"/>
                <a:sym typeface="Poppins"/>
              </a:rPr>
              <a:t>Visión Futura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05725" y="7496175"/>
            <a:ext cx="9553575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1A2A3A"/>
                </a:solidFill>
                <a:latin typeface="Poppins"/>
                <a:ea typeface="Poppins"/>
                <a:cs typeface="Poppins"/>
                <a:sym typeface="Poppins"/>
              </a:rPr>
              <a:t>Escalabilidad hacia otros servicios hospitalarios e incorporación de tecnologías como RFID para una trazabilidad aún más precisa.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DAHTy7oCojY</dc:identifier>
  <dcterms:modified xsi:type="dcterms:W3CDTF">2011-08-01T06:04:30Z</dcterms:modified>
  <cp:revision>1</cp:revision>
  <dc:title>Presentación con fase I</dc:title>
</cp:coreProperties>
</file>